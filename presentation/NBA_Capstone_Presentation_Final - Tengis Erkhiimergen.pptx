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75" r:id="rId8"/>
    <p:sldId id="276" r:id="rId9"/>
    <p:sldId id="262" r:id="rId10"/>
    <p:sldId id="270" r:id="rId11"/>
    <p:sldId id="271" r:id="rId12"/>
    <p:sldId id="272" r:id="rId13"/>
    <p:sldId id="273" r:id="rId14"/>
    <p:sldId id="274" r:id="rId15"/>
    <p:sldId id="265" r:id="rId16"/>
    <p:sldId id="266" r:id="rId17"/>
    <p:sldId id="267" r:id="rId18"/>
    <p:sldId id="268"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1pPr>
    <a:lvl2pPr marL="0" marR="0" indent="4572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2pPr>
    <a:lvl3pPr marL="0" marR="0" indent="9144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3pPr>
    <a:lvl4pPr marL="0" marR="0" indent="13716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4pPr>
    <a:lvl5pPr marL="0" marR="0" indent="18288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5pPr>
    <a:lvl6pPr marL="0" marR="0" indent="22860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6pPr>
    <a:lvl7pPr marL="0" marR="0" indent="27432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7pPr>
    <a:lvl8pPr marL="0" marR="0" indent="32004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8pPr>
    <a:lvl9pPr marL="0" marR="0" indent="365760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Regular"/>
          <a:ea typeface="Avenir Next Regular"/>
          <a:cs typeface="Avenir Next Regular"/>
        </a:font>
        <a:srgbClr val="4A4A4B"/>
      </a:tcTxStyle>
      <a:tcStyle>
        <a:tcBdr>
          <a:left>
            <a:ln w="12700" cap="flat">
              <a:solidFill>
                <a:srgbClr val="4A4A4B"/>
              </a:solidFill>
              <a:prstDash val="solid"/>
              <a:miter lim="400000"/>
            </a:ln>
          </a:left>
          <a:right>
            <a:ln w="12700" cap="flat">
              <a:solidFill>
                <a:srgbClr val="4A4A4B"/>
              </a:solidFill>
              <a:prstDash val="solid"/>
              <a:miter lim="400000"/>
            </a:ln>
          </a:right>
          <a:top>
            <a:ln w="12700" cap="flat">
              <a:solidFill>
                <a:srgbClr val="4A4A4B"/>
              </a:solidFill>
              <a:prstDash val="solid"/>
              <a:miter lim="400000"/>
            </a:ln>
          </a:top>
          <a:bottom>
            <a:ln w="12700" cap="flat">
              <a:solidFill>
                <a:srgbClr val="4A4A4B"/>
              </a:solidFill>
              <a:prstDash val="solid"/>
              <a:miter lim="400000"/>
            </a:ln>
          </a:bottom>
          <a:insideH>
            <a:ln w="12700" cap="flat">
              <a:solidFill>
                <a:srgbClr val="4A4A4B"/>
              </a:solidFill>
              <a:prstDash val="solid"/>
              <a:miter lim="400000"/>
            </a:ln>
          </a:insideH>
          <a:insideV>
            <a:ln w="12700" cap="flat">
              <a:solidFill>
                <a:srgbClr val="4A4A4B"/>
              </a:solidFill>
              <a:prstDash val="solid"/>
              <a:miter lim="400000"/>
            </a:ln>
          </a:insideV>
        </a:tcBdr>
        <a:fill>
          <a:noFill/>
        </a:fill>
      </a:tcStyle>
    </a:wholeTbl>
    <a:band2H>
      <a:tcTxStyle/>
      <a:tcStyle>
        <a:tcBdr/>
        <a:fill>
          <a:solidFill>
            <a:srgbClr val="D9D5CA"/>
          </a:solidFill>
        </a:fill>
      </a:tcStyle>
    </a:band2H>
    <a:firstCol>
      <a:tcTxStyle b="on" i="off">
        <a:font>
          <a:latin typeface="Avenir Next Regular"/>
          <a:ea typeface="Avenir Next Regular"/>
          <a:cs typeface="Avenir Next Regular"/>
        </a:font>
        <a:srgbClr val="4A4A4B"/>
      </a:tcTxStyle>
      <a:tcStyle>
        <a:tcBdr>
          <a:left>
            <a:ln w="12700" cap="flat">
              <a:noFill/>
              <a:miter lim="400000"/>
            </a:ln>
          </a:left>
          <a:right>
            <a:ln w="25400" cap="flat">
              <a:solidFill>
                <a:srgbClr val="4A4A4B"/>
              </a:solidFill>
              <a:prstDash val="solid"/>
              <a:miter lim="400000"/>
            </a:ln>
          </a:right>
          <a:top>
            <a:ln w="12700" cap="flat">
              <a:solidFill>
                <a:srgbClr val="4A4A4B"/>
              </a:solidFill>
              <a:prstDash val="solid"/>
              <a:miter lim="400000"/>
            </a:ln>
          </a:top>
          <a:bottom>
            <a:ln w="12700" cap="flat">
              <a:solidFill>
                <a:srgbClr val="4A4A4B"/>
              </a:solidFill>
              <a:prstDash val="solid"/>
              <a:miter lim="400000"/>
            </a:ln>
          </a:bottom>
          <a:insideH>
            <a:ln w="12700" cap="flat">
              <a:solidFill>
                <a:srgbClr val="4A4A4B"/>
              </a:solidFill>
              <a:prstDash val="solid"/>
              <a:miter lim="400000"/>
            </a:ln>
          </a:insideH>
          <a:insideV>
            <a:ln w="12700" cap="flat">
              <a:solidFill>
                <a:srgbClr val="4A4A4B"/>
              </a:solidFill>
              <a:prstDash val="solid"/>
              <a:miter lim="400000"/>
            </a:ln>
          </a:insideV>
        </a:tcBdr>
        <a:fill>
          <a:noFill/>
        </a:fill>
      </a:tcStyle>
    </a:firstCol>
    <a:lastRow>
      <a:tcTxStyle b="on" i="off">
        <a:font>
          <a:latin typeface="Avenir Next Regular"/>
          <a:ea typeface="Avenir Next Regular"/>
          <a:cs typeface="Avenir Next Regular"/>
        </a:font>
        <a:srgbClr val="4A4A4B"/>
      </a:tcTxStyle>
      <a:tcStyle>
        <a:tcBdr>
          <a:left>
            <a:ln w="12700" cap="flat">
              <a:solidFill>
                <a:srgbClr val="4A4A4B"/>
              </a:solidFill>
              <a:prstDash val="solid"/>
              <a:miter lim="400000"/>
            </a:ln>
          </a:left>
          <a:right>
            <a:ln w="12700" cap="flat">
              <a:solidFill>
                <a:srgbClr val="4A4A4B"/>
              </a:solidFill>
              <a:prstDash val="solid"/>
              <a:miter lim="400000"/>
            </a:ln>
          </a:right>
          <a:top>
            <a:ln w="25400" cap="flat">
              <a:solidFill>
                <a:srgbClr val="4A4A4B"/>
              </a:solidFill>
              <a:prstDash val="solid"/>
              <a:miter lim="400000"/>
            </a:ln>
          </a:top>
          <a:bottom>
            <a:ln w="12700" cap="flat">
              <a:noFill/>
              <a:miter lim="400000"/>
            </a:ln>
          </a:bottom>
          <a:insideH>
            <a:ln w="12700" cap="flat">
              <a:solidFill>
                <a:srgbClr val="4A4A4B"/>
              </a:solidFill>
              <a:prstDash val="solid"/>
              <a:miter lim="400000"/>
            </a:ln>
          </a:insideH>
          <a:insideV>
            <a:ln w="12700" cap="flat">
              <a:solidFill>
                <a:srgbClr val="4A4A4B"/>
              </a:solidFill>
              <a:prstDash val="solid"/>
              <a:miter lim="400000"/>
            </a:ln>
          </a:insideV>
        </a:tcBdr>
        <a:fill>
          <a:noFill/>
        </a:fill>
      </a:tcStyle>
    </a:lastRow>
    <a:firstRow>
      <a:tcTxStyle b="on" i="off">
        <a:font>
          <a:latin typeface="Avenir Next Regular"/>
          <a:ea typeface="Avenir Next Regular"/>
          <a:cs typeface="Avenir Next Regular"/>
        </a:font>
        <a:srgbClr val="4A4A4B"/>
      </a:tcTxStyle>
      <a:tcStyle>
        <a:tcBdr>
          <a:left>
            <a:ln w="12700" cap="flat">
              <a:solidFill>
                <a:srgbClr val="4A4A4B"/>
              </a:solidFill>
              <a:prstDash val="solid"/>
              <a:miter lim="400000"/>
            </a:ln>
          </a:left>
          <a:right>
            <a:ln w="12700" cap="flat">
              <a:solidFill>
                <a:srgbClr val="4A4A4B"/>
              </a:solidFill>
              <a:prstDash val="solid"/>
              <a:miter lim="400000"/>
            </a:ln>
          </a:right>
          <a:top>
            <a:ln w="12700" cap="flat">
              <a:noFill/>
              <a:miter lim="400000"/>
            </a:ln>
          </a:top>
          <a:bottom>
            <a:ln w="25400" cap="flat">
              <a:solidFill>
                <a:srgbClr val="4A4A4B"/>
              </a:solidFill>
              <a:prstDash val="solid"/>
              <a:miter lim="400000"/>
            </a:ln>
          </a:bottom>
          <a:insideH>
            <a:ln w="12700" cap="flat">
              <a:solidFill>
                <a:srgbClr val="4A4A4B"/>
              </a:solidFill>
              <a:prstDash val="solid"/>
              <a:miter lim="400000"/>
            </a:ln>
          </a:insideH>
          <a:insideV>
            <a:ln w="12700" cap="flat">
              <a:solidFill>
                <a:srgbClr val="4A4A4B"/>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chemeClr val="accent1">
                  <a:hueOff val="420094"/>
                  <a:satOff val="-1465"/>
                  <a:lumOff val="-19139"/>
                </a:schemeClr>
              </a:solidFill>
              <a:prstDash val="solid"/>
              <a:miter lim="400000"/>
            </a:ln>
          </a:left>
          <a:right>
            <a:ln w="12700" cap="flat">
              <a:solidFill>
                <a:schemeClr val="accent1">
                  <a:hueOff val="420094"/>
                  <a:satOff val="-1465"/>
                  <a:lumOff val="-19139"/>
                </a:schemeClr>
              </a:solidFill>
              <a:prstDash val="solid"/>
              <a:miter lim="400000"/>
            </a:ln>
          </a:right>
          <a:top>
            <a:ln w="12700" cap="flat">
              <a:solidFill>
                <a:schemeClr val="accent1">
                  <a:hueOff val="420094"/>
                  <a:satOff val="-1465"/>
                  <a:lumOff val="-19139"/>
                </a:schemeClr>
              </a:solidFill>
              <a:prstDash val="solid"/>
              <a:miter lim="400000"/>
            </a:ln>
          </a:top>
          <a:bottom>
            <a:ln w="12700" cap="flat">
              <a:solidFill>
                <a:schemeClr val="accent1">
                  <a:hueOff val="420094"/>
                  <a:satOff val="-1465"/>
                  <a:lumOff val="-19139"/>
                </a:schemeClr>
              </a:solidFill>
              <a:prstDash val="solid"/>
              <a:miter lim="400000"/>
            </a:ln>
          </a:bottom>
          <a:insideH>
            <a:ln w="12700" cap="flat">
              <a:solidFill>
                <a:schemeClr val="accent1">
                  <a:hueOff val="420094"/>
                  <a:satOff val="-1465"/>
                  <a:lumOff val="-19139"/>
                </a:schemeClr>
              </a:solidFill>
              <a:prstDash val="solid"/>
              <a:miter lim="400000"/>
            </a:ln>
          </a:insideH>
          <a:insideV>
            <a:ln w="12700" cap="flat">
              <a:solidFill>
                <a:schemeClr val="accent1">
                  <a:hueOff val="420094"/>
                  <a:satOff val="-1465"/>
                  <a:lumOff val="-19139"/>
                </a:schemeClr>
              </a:solidFill>
              <a:prstDash val="solid"/>
              <a:miter lim="400000"/>
            </a:ln>
          </a:insideV>
        </a:tcBdr>
        <a:fill>
          <a:noFill/>
        </a:fill>
      </a:tcStyle>
    </a:wholeTbl>
    <a:band2H>
      <a:tcTxStyle/>
      <a:tcStyle>
        <a:tcBdr/>
        <a:fill>
          <a:solidFill>
            <a:srgbClr val="D9D5CA"/>
          </a:solidFill>
        </a:fill>
      </a:tcStyle>
    </a:band2H>
    <a:firstCol>
      <a:tcTxStyle b="on" i="off">
        <a:font>
          <a:latin typeface="Avenir Next Regular"/>
          <a:ea typeface="Avenir Next Regular"/>
          <a:cs typeface="Avenir Next Regular"/>
        </a:font>
        <a:srgbClr val="FFFFFF"/>
      </a:tcTxStyle>
      <a:tcStyle>
        <a:tcBdr>
          <a:left>
            <a:ln w="12700" cap="flat">
              <a:noFill/>
              <a:miter lim="400000"/>
            </a:ln>
          </a:left>
          <a:right>
            <a:ln w="25400" cap="flat">
              <a:solidFill>
                <a:schemeClr val="accent1">
                  <a:hueOff val="420094"/>
                  <a:satOff val="-1465"/>
                  <a:lumOff val="-19139"/>
                </a:schemeClr>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0EBE0"/>
              </a:solidFill>
              <a:prstDash val="solid"/>
              <a:miter lim="400000"/>
            </a:ln>
          </a:insideV>
        </a:tcBdr>
        <a:fill>
          <a:solidFill>
            <a:srgbClr val="54BAE0"/>
          </a:solidFill>
        </a:fill>
      </a:tcStyle>
    </a:firstCol>
    <a:lastRow>
      <a:tcTxStyle b="off" i="off">
        <a:font>
          <a:latin typeface="Avenir Next Medium"/>
          <a:ea typeface="Avenir Next Medium"/>
          <a:cs typeface="Avenir Next Medium"/>
        </a:font>
        <a:srgbClr val="000000"/>
      </a:tcTxStyle>
      <a:tcStyle>
        <a:tcBdr>
          <a:left>
            <a:ln w="12700" cap="flat">
              <a:solidFill>
                <a:schemeClr val="accent1">
                  <a:hueOff val="420094"/>
                  <a:satOff val="-1465"/>
                  <a:lumOff val="-19139"/>
                </a:schemeClr>
              </a:solidFill>
              <a:prstDash val="solid"/>
              <a:miter lim="400000"/>
            </a:ln>
          </a:left>
          <a:right>
            <a:ln w="12700" cap="flat">
              <a:solidFill>
                <a:schemeClr val="accent1">
                  <a:hueOff val="420094"/>
                  <a:satOff val="-1465"/>
                  <a:lumOff val="-19139"/>
                </a:schemeClr>
              </a:solidFill>
              <a:prstDash val="solid"/>
              <a:miter lim="400000"/>
            </a:ln>
          </a:right>
          <a:top>
            <a:ln w="25400" cap="flat">
              <a:solidFill>
                <a:schemeClr val="accent1">
                  <a:hueOff val="420094"/>
                  <a:satOff val="-1465"/>
                  <a:lumOff val="-19139"/>
                </a:schemeClr>
              </a:solidFill>
              <a:prstDash val="solid"/>
              <a:miter lim="400000"/>
            </a:ln>
          </a:top>
          <a:bottom>
            <a:ln w="12700" cap="flat">
              <a:noFill/>
              <a:miter lim="400000"/>
            </a:ln>
          </a:bottom>
          <a:insideH>
            <a:ln w="12700" cap="flat">
              <a:solidFill>
                <a:schemeClr val="accent1">
                  <a:hueOff val="420094"/>
                  <a:satOff val="-1465"/>
                  <a:lumOff val="-19139"/>
                </a:schemeClr>
              </a:solidFill>
              <a:prstDash val="solid"/>
              <a:miter lim="400000"/>
            </a:ln>
          </a:insideH>
          <a:insideV>
            <a:ln w="12700" cap="flat">
              <a:solidFill>
                <a:schemeClr val="accent1">
                  <a:hueOff val="420094"/>
                  <a:satOff val="-1465"/>
                  <a:lumOff val="-19139"/>
                </a:schemeClr>
              </a:solidFill>
              <a:prstDash val="solid"/>
              <a:miter lim="400000"/>
            </a:ln>
          </a:insideV>
        </a:tcBdr>
        <a:fill>
          <a:noFill/>
        </a:fill>
      </a:tcStyle>
    </a:lastRow>
    <a:firstRow>
      <a:tcTxStyle b="on" i="off">
        <a:font>
          <a:latin typeface="Avenir Next Regular"/>
          <a:ea typeface="Avenir Next Regular"/>
          <a:cs typeface="Avenir Next Regular"/>
        </a:font>
        <a:srgbClr val="FFFFFF"/>
      </a:tcTxStyle>
      <a:tcStyle>
        <a:tcBdr>
          <a:left>
            <a:ln w="12700" cap="flat">
              <a:solidFill>
                <a:srgbClr val="F0EBE0"/>
              </a:solidFill>
              <a:prstDash val="solid"/>
              <a:miter lim="400000"/>
            </a:ln>
          </a:left>
          <a:right>
            <a:ln w="12700" cap="flat">
              <a:solidFill>
                <a:srgbClr val="F0EBE0"/>
              </a:solidFill>
              <a:prstDash val="solid"/>
              <a:miter lim="400000"/>
            </a:ln>
          </a:right>
          <a:top>
            <a:ln w="12700" cap="flat">
              <a:noFill/>
              <a:miter lim="400000"/>
            </a:ln>
          </a:top>
          <a:bottom>
            <a:ln w="25400" cap="flat">
              <a:solidFill>
                <a:schemeClr val="accent1">
                  <a:hueOff val="420094"/>
                  <a:satOff val="-1465"/>
                  <a:lumOff val="-19139"/>
                </a:schemeClr>
              </a:solidFill>
              <a:prstDash val="solid"/>
              <a:miter lim="400000"/>
            </a:ln>
          </a:bottom>
          <a:insideH>
            <a:ln w="12700" cap="flat">
              <a:solidFill>
                <a:srgbClr val="F0EBE0"/>
              </a:solidFill>
              <a:prstDash val="solid"/>
              <a:miter lim="400000"/>
            </a:ln>
          </a:insideH>
          <a:insideV>
            <a:ln w="12700" cap="flat">
              <a:solidFill>
                <a:srgbClr val="F0EBE0"/>
              </a:solidFill>
              <a:prstDash val="solid"/>
              <a:miter lim="400000"/>
            </a:ln>
          </a:insideV>
        </a:tcBdr>
        <a:fill>
          <a:solidFill>
            <a:srgbClr val="54BAE0"/>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F0EBE0"/>
          </a:solidFill>
        </a:fill>
      </a:tcStyle>
    </a:wholeTbl>
    <a:band2H>
      <a:tcTxStyle/>
      <a:tcStyle>
        <a:tcBdr/>
        <a:fill>
          <a:solidFill>
            <a:srgbClr val="D9D5CA"/>
          </a:solidFill>
        </a:fill>
      </a:tcStyle>
    </a:band2H>
    <a:firstCol>
      <a:tcTxStyle b="off" i="off">
        <a:font>
          <a:latin typeface="Avenir Next Medium"/>
          <a:ea typeface="Avenir Next Medium"/>
          <a:cs typeface="Avenir Next Medium"/>
        </a:font>
        <a:srgbClr val="000000"/>
      </a:tcTxStyle>
      <a:tcStyle>
        <a:tcBdr>
          <a:left>
            <a:ln w="12700" cap="flat">
              <a:noFill/>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C6DFB5"/>
          </a:solidFill>
        </a:fill>
      </a:tcStyle>
    </a:firstCol>
    <a:lastRow>
      <a:tcTxStyle b="off" i="off">
        <a:font>
          <a:latin typeface="Avenir Next Medium"/>
          <a:ea typeface="Avenir Next Medium"/>
          <a:cs typeface="Avenir Next Medium"/>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noFill/>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F0EBE0"/>
          </a:solidFill>
        </a:fill>
      </a:tcStyle>
    </a:lastRow>
    <a:firstRow>
      <a:tcTxStyle b="on" i="off">
        <a:font>
          <a:latin typeface="Avenir Next Regular"/>
          <a:ea typeface="Avenir Next Regular"/>
          <a:cs typeface="Avenir Next Regular"/>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noFill/>
              <a:miter lim="400000"/>
            </a:ln>
          </a:top>
          <a:bottom>
            <a:ln w="254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57A797"/>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0EBE0"/>
          </a:solidFill>
        </a:fill>
      </a:tcStyle>
    </a:wholeTbl>
    <a:band2H>
      <a:tcTxStyle/>
      <a:tcStyle>
        <a:tcBdr/>
        <a:fill>
          <a:solidFill>
            <a:srgbClr val="E4E1D8"/>
          </a:solidFill>
        </a:fill>
      </a:tcStyle>
    </a:band2H>
    <a:firstCol>
      <a:tcTxStyle b="off" i="off">
        <a:font>
          <a:latin typeface="Avenir Next Medium"/>
          <a:ea typeface="Avenir Next Medium"/>
          <a:cs typeface="Avenir Next Medium"/>
        </a:font>
        <a:srgbClr val="000000"/>
      </a:tcTxStyle>
      <a:tcStyle>
        <a:tcBdr>
          <a:left>
            <a:ln w="12700" cap="flat">
              <a:noFill/>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DAD7D3"/>
          </a:solidFill>
        </a:fill>
      </a:tcStyle>
    </a:firstCol>
    <a:lastRow>
      <a:tcTxStyle b="off" i="off">
        <a:font>
          <a:latin typeface="Avenir Next Medium"/>
          <a:ea typeface="Avenir Next Medium"/>
          <a:cs typeface="Avenir Next Medium"/>
        </a:font>
        <a:srgbClr val="000000"/>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noFill/>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0EBE0"/>
          </a:solidFill>
        </a:fill>
      </a:tcStyle>
    </a:lastRow>
    <a:firstRow>
      <a:tcTxStyle b="on" i="off">
        <a:font>
          <a:latin typeface="Avenir Next Regular"/>
          <a:ea typeface="Avenir Next Regular"/>
          <a:cs typeface="Avenir Next Regular"/>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noFill/>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chemeClr val="accent6">
              <a:hueOff val="-134388"/>
            </a:schemeClr>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FEBE1"/>
          </a:solidFill>
        </a:fill>
      </a:tcStyle>
    </a:wholeTbl>
    <a:band2H>
      <a:tcTxStyle/>
      <a:tcStyle>
        <a:tcBdr/>
        <a:fill>
          <a:solidFill>
            <a:srgbClr val="D9D5CA"/>
          </a:solidFill>
        </a:fill>
      </a:tcStyle>
    </a:band2H>
    <a:firstCol>
      <a:tcTxStyle b="on" i="off">
        <a:font>
          <a:latin typeface="Avenir Next Regular"/>
          <a:ea typeface="Avenir Next Regular"/>
          <a:cs typeface="Avenir Next Regular"/>
        </a:font>
        <a:srgbClr val="000000"/>
      </a:tcTxStyle>
      <a:tcStyle>
        <a:tcBdr>
          <a:left>
            <a:ln w="12700" cap="flat">
              <a:noFill/>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D0CCC4"/>
          </a:solidFill>
        </a:fill>
      </a:tcStyle>
    </a:firstCol>
    <a:lastRow>
      <a:tcTxStyle b="on" i="off">
        <a:font>
          <a:latin typeface="Avenir Next Regular"/>
          <a:ea typeface="Avenir Next Regular"/>
          <a:cs typeface="Avenir Next Regular"/>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noFill/>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noFill/>
        </a:fill>
      </a:tcStyle>
    </a:lastRow>
    <a:firstRow>
      <a:tcTxStyle b="on" i="off">
        <a:font>
          <a:latin typeface="Avenir Next Regular"/>
          <a:ea typeface="Avenir Next Regular"/>
          <a:cs typeface="Avenir Next Regular"/>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noFill/>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5413C"/>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D9D5CA"/>
          </a:solidFill>
        </a:fill>
      </a:tcStyle>
    </a:band2H>
    <a:firstCol>
      <a:tcTxStyle b="on" i="off">
        <a:font>
          <a:latin typeface="Avenir Next Regular"/>
          <a:ea typeface="Avenir Next Regular"/>
          <a:cs typeface="Avenir Next Regular"/>
        </a:font>
        <a:srgbClr val="000000"/>
      </a:tcTxStyle>
      <a:tcStyle>
        <a:tcBdr>
          <a:left>
            <a:ln w="12700" cap="flat">
              <a:noFill/>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D0CCC4"/>
          </a:solidFill>
        </a:fill>
      </a:tcStyle>
    </a:firstCol>
    <a:lastRow>
      <a:tcTxStyle b="on"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noFill/>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B7B5B1"/>
          </a:solidFill>
        </a:fill>
      </a:tcStyle>
    </a:lastRow>
    <a:firstRow>
      <a:tcTxStyle b="on" i="off">
        <a:font>
          <a:latin typeface="Avenir Next Regular"/>
          <a:ea typeface="Avenir Next Regular"/>
          <a:cs typeface="Avenir Next Regular"/>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noFill/>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B7B5B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65"/>
    <p:restoredTop sz="77907"/>
  </p:normalViewPr>
  <p:slideViewPr>
    <p:cSldViewPr snapToGrid="0">
      <p:cViewPr>
        <p:scale>
          <a:sx n="40" d="100"/>
          <a:sy n="40" d="100"/>
        </p:scale>
        <p:origin x="144" y="6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7" name="Shape 18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8" name="Shape 18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65005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61029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09945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69985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7456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15562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87101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3" name="Author and Date"/>
          <p:cNvSpPr txBox="1">
            <a:spLocks noGrp="1"/>
          </p:cNvSpPr>
          <p:nvPr>
            <p:ph type="body" sz="quarter" idx="21" hasCustomPrompt="1"/>
          </p:nvPr>
        </p:nvSpPr>
        <p:spPr>
          <a:xfrm>
            <a:off x="1727200" y="1003300"/>
            <a:ext cx="20929600" cy="482600"/>
          </a:xfrm>
          <a:prstGeom prst="rect">
            <a:avLst/>
          </a:prstGeom>
        </p:spPr>
        <p:txBody>
          <a:bodyPr anchor="ctr"/>
          <a:lstStyle>
            <a:lvl1pPr defTabSz="685800">
              <a:lnSpc>
                <a:spcPct val="100000"/>
              </a:lnSpc>
              <a:defRPr sz="2000" b="1" cap="all" spc="0">
                <a:solidFill>
                  <a:srgbClr val="227AAF"/>
                </a:solidFill>
              </a:defRPr>
            </a:lvl1pPr>
          </a:lstStyle>
          <a:p>
            <a:r>
              <a:t>Author and Date</a:t>
            </a:r>
          </a:p>
        </p:txBody>
      </p:sp>
      <p:sp>
        <p:nvSpPr>
          <p:cNvPr id="14" name="Presentation Title"/>
          <p:cNvSpPr txBox="1">
            <a:spLocks noGrp="1"/>
          </p:cNvSpPr>
          <p:nvPr>
            <p:ph type="title" hasCustomPrompt="1"/>
          </p:nvPr>
        </p:nvSpPr>
        <p:spPr>
          <a:prstGeom prst="rect">
            <a:avLst/>
          </a:prstGeom>
        </p:spPr>
        <p:txBody>
          <a:bodyPr/>
          <a:lstStyle/>
          <a:p>
            <a:r>
              <a:t>Presentation Title</a:t>
            </a:r>
          </a:p>
        </p:txBody>
      </p:sp>
      <p:sp>
        <p:nvSpPr>
          <p:cNvPr id="15" name="Body Level One…"/>
          <p:cNvSpPr txBox="1">
            <a:spLocks noGrp="1"/>
          </p:cNvSpPr>
          <p:nvPr>
            <p:ph type="body" sz="quarter" idx="1" hasCustomPrompt="1"/>
          </p:nvPr>
        </p:nvSpPr>
        <p:spPr>
          <a:prstGeom prst="rect">
            <a:avLst/>
          </a:prstGeom>
        </p:spPr>
        <p:txBody>
          <a:bodyPr/>
          <a:lstStyle/>
          <a:p>
            <a:r>
              <a:t>Presentation Subtitle</a:t>
            </a:r>
          </a:p>
          <a:p>
            <a:pPr lvl="1"/>
            <a:endParaRPr/>
          </a:p>
          <a:p>
            <a:pPr lvl="2"/>
            <a:endParaRPr/>
          </a:p>
          <a:p>
            <a:pPr lvl="3"/>
            <a:endParaRPr/>
          </a:p>
          <a:p>
            <a:pPr lvl="4"/>
            <a:endParaRP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Photo">
    <p:spTree>
      <p:nvGrpSpPr>
        <p:cNvPr id="1" name=""/>
        <p:cNvGrpSpPr/>
        <p:nvPr/>
      </p:nvGrpSpPr>
      <p:grpSpPr>
        <a:xfrm>
          <a:off x="0" y="0"/>
          <a:ext cx="0" cy="0"/>
          <a:chOff x="0" y="0"/>
          <a:chExt cx="0" cy="0"/>
        </a:xfrm>
      </p:grpSpPr>
      <p:sp>
        <p:nvSpPr>
          <p:cNvPr id="23" name="Copenhagen Opera House lit up at night and viewed from across the water"/>
          <p:cNvSpPr>
            <a:spLocks noGrp="1"/>
          </p:cNvSpPr>
          <p:nvPr>
            <p:ph type="pic" idx="21"/>
          </p:nvPr>
        </p:nvSpPr>
        <p:spPr>
          <a:xfrm>
            <a:off x="-1" y="-2527300"/>
            <a:ext cx="24384001" cy="16256000"/>
          </a:xfrm>
          <a:prstGeom prst="rect">
            <a:avLst/>
          </a:prstGeom>
        </p:spPr>
        <p:txBody>
          <a:bodyPr lIns="91439" tIns="45719" rIns="91439" bIns="45719">
            <a:noAutofit/>
          </a:bodyPr>
          <a:lstStyle/>
          <a:p>
            <a:endParaRPr/>
          </a:p>
        </p:txBody>
      </p:sp>
      <p:sp>
        <p:nvSpPr>
          <p:cNvPr id="24" name="Body Level One…"/>
          <p:cNvSpPr txBox="1">
            <a:spLocks noGrp="1"/>
          </p:cNvSpPr>
          <p:nvPr>
            <p:ph type="body" sz="quarter" idx="1" hasCustomPrompt="1"/>
          </p:nvPr>
        </p:nvSpPr>
        <p:spPr>
          <a:xfrm>
            <a:off x="1727200" y="10718800"/>
            <a:ext cx="20929600" cy="2025650"/>
          </a:xfrm>
          <a:prstGeom prst="rect">
            <a:avLst/>
          </a:prstGeom>
        </p:spPr>
        <p:txBody>
          <a:bodyPr/>
          <a:lstStyle>
            <a:lvl1pPr>
              <a:spcBef>
                <a:spcPts val="2000"/>
              </a:spcBef>
              <a:defRPr>
                <a:solidFill>
                  <a:srgbClr val="F0EBE0"/>
                </a:solidFill>
              </a:defRPr>
            </a:lvl1pPr>
            <a:lvl2pPr>
              <a:spcBef>
                <a:spcPts val="2000"/>
              </a:spcBef>
              <a:defRPr>
                <a:solidFill>
                  <a:srgbClr val="F0EBE0"/>
                </a:solidFill>
              </a:defRPr>
            </a:lvl2pPr>
            <a:lvl3pPr indent="0">
              <a:spcBef>
                <a:spcPts val="2000"/>
              </a:spcBef>
              <a:defRPr>
                <a:solidFill>
                  <a:srgbClr val="F0EBE0"/>
                </a:solidFill>
              </a:defRPr>
            </a:lvl3pPr>
            <a:lvl4pPr indent="0">
              <a:spcBef>
                <a:spcPts val="2000"/>
              </a:spcBef>
              <a:defRPr>
                <a:solidFill>
                  <a:srgbClr val="F0EBE0"/>
                </a:solidFill>
              </a:defRPr>
            </a:lvl4pPr>
            <a:lvl5pPr indent="0">
              <a:spcBef>
                <a:spcPts val="2000"/>
              </a:spcBef>
              <a:defRPr>
                <a:solidFill>
                  <a:srgbClr val="F0EBE0"/>
                </a:solidFill>
              </a:defRPr>
            </a:lvl5pPr>
          </a:lstStyle>
          <a:p>
            <a:r>
              <a:t>Presentation Subtitle</a:t>
            </a:r>
          </a:p>
          <a:p>
            <a:pPr lvl="1"/>
            <a:endParaRPr/>
          </a:p>
          <a:p>
            <a:pPr lvl="2"/>
            <a:endParaRPr/>
          </a:p>
          <a:p>
            <a:pPr lvl="3"/>
            <a:endParaRPr/>
          </a:p>
          <a:p>
            <a:pPr lvl="4"/>
            <a:endParaRPr/>
          </a:p>
        </p:txBody>
      </p:sp>
      <p:sp>
        <p:nvSpPr>
          <p:cNvPr id="25" name="Presentation Title"/>
          <p:cNvSpPr txBox="1">
            <a:spLocks noGrp="1"/>
          </p:cNvSpPr>
          <p:nvPr>
            <p:ph type="title" hasCustomPrompt="1"/>
          </p:nvPr>
        </p:nvSpPr>
        <p:spPr>
          <a:xfrm>
            <a:off x="1727200" y="7817246"/>
            <a:ext cx="20929600" cy="2799954"/>
          </a:xfrm>
          <a:prstGeom prst="rect">
            <a:avLst/>
          </a:prstGeom>
        </p:spPr>
        <p:txBody>
          <a:bodyPr/>
          <a:lstStyle>
            <a:lvl1pPr>
              <a:defRPr>
                <a:solidFill>
                  <a:srgbClr val="FFFFFF"/>
                </a:solidFill>
              </a:defRPr>
            </a:lvl1pPr>
          </a:lstStyle>
          <a:p>
            <a:r>
              <a:t>Presentation Title</a:t>
            </a:r>
          </a:p>
        </p:txBody>
      </p:sp>
      <p:sp>
        <p:nvSpPr>
          <p:cNvPr id="26" name="Author and Date"/>
          <p:cNvSpPr txBox="1">
            <a:spLocks noGrp="1"/>
          </p:cNvSpPr>
          <p:nvPr>
            <p:ph type="body" sz="quarter" idx="22" hasCustomPrompt="1"/>
          </p:nvPr>
        </p:nvSpPr>
        <p:spPr>
          <a:xfrm>
            <a:off x="1727200" y="1003300"/>
            <a:ext cx="20929600" cy="480060"/>
          </a:xfrm>
          <a:prstGeom prst="rect">
            <a:avLst/>
          </a:prstGeom>
        </p:spPr>
        <p:txBody>
          <a:bodyPr anchor="ctr"/>
          <a:lstStyle>
            <a:lvl1pPr defTabSz="685800">
              <a:lnSpc>
                <a:spcPct val="100000"/>
              </a:lnSpc>
              <a:defRPr sz="2000" b="1" cap="all" spc="0">
                <a:solidFill>
                  <a:srgbClr val="F0EBE0"/>
                </a:solidFill>
              </a:defRPr>
            </a:lvl1pPr>
          </a:lstStyle>
          <a:p>
            <a:r>
              <a:t>Author and Date</a:t>
            </a:r>
          </a:p>
        </p:txBody>
      </p:sp>
      <p:sp>
        <p:nvSpPr>
          <p:cNvPr id="27" name="Line"/>
          <p:cNvSpPr/>
          <p:nvPr/>
        </p:nvSpPr>
        <p:spPr>
          <a:xfrm>
            <a:off x="863600" y="12852400"/>
            <a:ext cx="22656801" cy="0"/>
          </a:xfrm>
          <a:prstGeom prst="line">
            <a:avLst/>
          </a:prstGeom>
          <a:ln w="12700">
            <a:solidFill>
              <a:srgbClr val="FFFFFF">
                <a:alpha val="30000"/>
              </a:srgbClr>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28" name="Line"/>
          <p:cNvSpPr/>
          <p:nvPr/>
        </p:nvSpPr>
        <p:spPr>
          <a:xfrm>
            <a:off x="863600" y="889000"/>
            <a:ext cx="22656801" cy="0"/>
          </a:xfrm>
          <a:prstGeom prst="line">
            <a:avLst/>
          </a:prstGeom>
          <a:ln w="50800">
            <a:solidFill>
              <a:srgbClr val="FFFFFF">
                <a:alpha val="30000"/>
              </a:srgbClr>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29" name="Slide Number"/>
          <p:cNvSpPr txBox="1">
            <a:spLocks noGrp="1"/>
          </p:cNvSpPr>
          <p:nvPr>
            <p:ph type="sldNum" sz="quarter" idx="2"/>
          </p:nvPr>
        </p:nvSpPr>
        <p:spPr>
          <a:xfrm>
            <a:off x="12001500" y="13030199"/>
            <a:ext cx="386335" cy="419101"/>
          </a:xfrm>
          <a:prstGeom prst="rect">
            <a:avLst/>
          </a:prstGeom>
        </p:spPr>
        <p:txBody>
          <a:bodyPr/>
          <a:lstStyle>
            <a:lvl1pPr>
              <a:defRPr>
                <a:solidFill>
                  <a:srgbClr val="F0EBE0"/>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Photo Alt">
    <p:spTree>
      <p:nvGrpSpPr>
        <p:cNvPr id="1" name=""/>
        <p:cNvGrpSpPr/>
        <p:nvPr/>
      </p:nvGrpSpPr>
      <p:grpSpPr>
        <a:xfrm>
          <a:off x="0" y="0"/>
          <a:ext cx="0" cy="0"/>
          <a:chOff x="0" y="0"/>
          <a:chExt cx="0" cy="0"/>
        </a:xfrm>
      </p:grpSpPr>
      <p:sp>
        <p:nvSpPr>
          <p:cNvPr id="36" name="Suspension bridge over water at sunset"/>
          <p:cNvSpPr>
            <a:spLocks noGrp="1"/>
          </p:cNvSpPr>
          <p:nvPr>
            <p:ph type="pic" idx="21"/>
          </p:nvPr>
        </p:nvSpPr>
        <p:spPr>
          <a:xfrm>
            <a:off x="-3352800" y="0"/>
            <a:ext cx="16002000" cy="13716000"/>
          </a:xfrm>
          <a:prstGeom prst="rect">
            <a:avLst/>
          </a:prstGeom>
        </p:spPr>
        <p:txBody>
          <a:bodyPr lIns="91439" tIns="45719" rIns="91439" bIns="45719">
            <a:noAutofit/>
          </a:bodyPr>
          <a:lstStyle/>
          <a:p>
            <a:endParaRPr/>
          </a:p>
        </p:txBody>
      </p:sp>
      <p:sp>
        <p:nvSpPr>
          <p:cNvPr id="37" name="Slide Title"/>
          <p:cNvSpPr txBox="1">
            <a:spLocks noGrp="1"/>
          </p:cNvSpPr>
          <p:nvPr>
            <p:ph type="title" hasCustomPrompt="1"/>
          </p:nvPr>
        </p:nvSpPr>
        <p:spPr>
          <a:xfrm>
            <a:off x="13665200" y="4394200"/>
            <a:ext cx="9271000" cy="2540000"/>
          </a:xfrm>
          <a:prstGeom prst="rect">
            <a:avLst/>
          </a:prstGeom>
        </p:spPr>
        <p:txBody>
          <a:bodyPr anchor="t"/>
          <a:lstStyle>
            <a:lvl1pPr algn="l">
              <a:defRPr sz="8000" spc="-80"/>
            </a:lvl1pPr>
          </a:lstStyle>
          <a:p>
            <a:r>
              <a:t>Slide Title</a:t>
            </a:r>
          </a:p>
        </p:txBody>
      </p:sp>
      <p:sp>
        <p:nvSpPr>
          <p:cNvPr id="38" name="Body Level One…"/>
          <p:cNvSpPr txBox="1">
            <a:spLocks noGrp="1"/>
          </p:cNvSpPr>
          <p:nvPr>
            <p:ph type="body" sz="quarter" idx="1" hasCustomPrompt="1"/>
          </p:nvPr>
        </p:nvSpPr>
        <p:spPr>
          <a:xfrm>
            <a:off x="13665200" y="7010400"/>
            <a:ext cx="9271000" cy="2312637"/>
          </a:xfrm>
          <a:prstGeom prst="rect">
            <a:avLst/>
          </a:prstGeom>
        </p:spPr>
        <p:txBody>
          <a:bodyPr/>
          <a:lstStyle>
            <a:lvl1pPr algn="l">
              <a:lnSpc>
                <a:spcPct val="80000"/>
              </a:lnSpc>
            </a:lvl1pPr>
            <a:lvl2pPr algn="l">
              <a:lnSpc>
                <a:spcPct val="80000"/>
              </a:lnSpc>
            </a:lvl2pPr>
            <a:lvl3pPr algn="l">
              <a:lnSpc>
                <a:spcPct val="80000"/>
              </a:lnSpc>
            </a:lvl3pPr>
            <a:lvl4pPr algn="l">
              <a:lnSpc>
                <a:spcPct val="80000"/>
              </a:lnSpc>
            </a:lvl4pPr>
            <a:lvl5pPr algn="l">
              <a:lnSpc>
                <a:spcPct val="80000"/>
              </a:lnSpc>
            </a:lvl5pPr>
          </a:lstStyle>
          <a:p>
            <a:r>
              <a:t>Slide Subtitle</a:t>
            </a:r>
          </a:p>
          <a:p>
            <a:pPr lvl="1"/>
            <a:endParaRPr/>
          </a:p>
          <a:p>
            <a:pPr lvl="2"/>
            <a:endParaRPr/>
          </a:p>
          <a:p>
            <a:pPr lvl="3"/>
            <a:endParaRPr/>
          </a:p>
          <a:p>
            <a:pPr lvl="4"/>
            <a:endParaRPr/>
          </a:p>
        </p:txBody>
      </p:sp>
      <p:sp>
        <p:nvSpPr>
          <p:cNvPr id="39" name="Author and Date"/>
          <p:cNvSpPr txBox="1">
            <a:spLocks noGrp="1"/>
          </p:cNvSpPr>
          <p:nvPr>
            <p:ph type="body" sz="quarter" idx="22" hasCustomPrompt="1"/>
          </p:nvPr>
        </p:nvSpPr>
        <p:spPr>
          <a:xfrm>
            <a:off x="13665200" y="3746500"/>
            <a:ext cx="9271000" cy="482600"/>
          </a:xfrm>
          <a:prstGeom prst="rect">
            <a:avLst/>
          </a:prstGeom>
        </p:spPr>
        <p:txBody>
          <a:bodyPr anchor="ctr"/>
          <a:lstStyle>
            <a:lvl1pPr algn="l" defTabSz="685800">
              <a:lnSpc>
                <a:spcPct val="100000"/>
              </a:lnSpc>
              <a:defRPr sz="2000" b="1" cap="all" spc="0">
                <a:solidFill>
                  <a:srgbClr val="227AAF"/>
                </a:solidFill>
              </a:defRPr>
            </a:lvl1pPr>
          </a:lstStyle>
          <a:p>
            <a:r>
              <a:t>Author and Date</a:t>
            </a:r>
          </a:p>
        </p:txBody>
      </p:sp>
      <p:sp>
        <p:nvSpPr>
          <p:cNvPr id="40" name="Line"/>
          <p:cNvSpPr/>
          <p:nvPr/>
        </p:nvSpPr>
        <p:spPr>
          <a:xfrm>
            <a:off x="13665200" y="3721100"/>
            <a:ext cx="9283700"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41" name="Line"/>
          <p:cNvSpPr/>
          <p:nvPr/>
        </p:nvSpPr>
        <p:spPr>
          <a:xfrm>
            <a:off x="13665200" y="9525000"/>
            <a:ext cx="9283700"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42"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9" name="Slide Title"/>
          <p:cNvSpPr txBox="1">
            <a:spLocks noGrp="1"/>
          </p:cNvSpPr>
          <p:nvPr>
            <p:ph type="title" hasCustomPrompt="1"/>
          </p:nvPr>
        </p:nvSpPr>
        <p:spPr>
          <a:xfrm>
            <a:off x="1727200" y="1739900"/>
            <a:ext cx="20929600" cy="3225356"/>
          </a:xfrm>
          <a:prstGeom prst="rect">
            <a:avLst/>
          </a:prstGeom>
        </p:spPr>
        <p:txBody>
          <a:bodyPr anchor="t"/>
          <a:lstStyle/>
          <a:p>
            <a:r>
              <a:t>Slide Title</a:t>
            </a:r>
          </a:p>
        </p:txBody>
      </p:sp>
      <p:sp>
        <p:nvSpPr>
          <p:cNvPr id="50" name="Author and Date"/>
          <p:cNvSpPr txBox="1">
            <a:spLocks noGrp="1"/>
          </p:cNvSpPr>
          <p:nvPr>
            <p:ph type="body" sz="quarter" idx="21" hasCustomPrompt="1"/>
          </p:nvPr>
        </p:nvSpPr>
        <p:spPr>
          <a:xfrm>
            <a:off x="1727200" y="1003300"/>
            <a:ext cx="20929600" cy="482600"/>
          </a:xfrm>
          <a:prstGeom prst="rect">
            <a:avLst/>
          </a:prstGeom>
        </p:spPr>
        <p:txBody>
          <a:bodyPr anchor="ctr"/>
          <a:lstStyle>
            <a:lvl1pPr defTabSz="685800">
              <a:lnSpc>
                <a:spcPct val="100000"/>
              </a:lnSpc>
              <a:defRPr sz="2000" b="1" cap="all" spc="0">
                <a:solidFill>
                  <a:srgbClr val="227AAF"/>
                </a:solidFill>
              </a:defRPr>
            </a:lvl1pPr>
          </a:lstStyle>
          <a:p>
            <a:r>
              <a:t>Author and Date</a:t>
            </a:r>
          </a:p>
        </p:txBody>
      </p:sp>
      <p:sp>
        <p:nvSpPr>
          <p:cNvPr id="51" name="Body Level One…"/>
          <p:cNvSpPr txBox="1">
            <a:spLocks noGrp="1"/>
          </p:cNvSpPr>
          <p:nvPr>
            <p:ph type="body" sz="half" idx="1" hasCustomPrompt="1"/>
          </p:nvPr>
        </p:nvSpPr>
        <p:spPr>
          <a:xfrm>
            <a:off x="1727200" y="4965700"/>
            <a:ext cx="20929600" cy="6165850"/>
          </a:xfrm>
          <a:prstGeom prst="rect">
            <a:avLst/>
          </a:prstGeom>
        </p:spPr>
        <p:txBody>
          <a:bodyPr numCol="2" spcCol="1046480"/>
          <a:lstStyle>
            <a:lvl1pPr marL="4826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1pPr>
            <a:lvl2pPr marL="9652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2pPr>
            <a:lvl3pPr marL="14478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3pPr>
            <a:lvl4pPr marL="19304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4pPr>
            <a:lvl5pPr marL="24130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5pPr>
          </a:lstStyle>
          <a:p>
            <a:r>
              <a:t>Slide bullet text</a:t>
            </a:r>
          </a:p>
          <a:p>
            <a:pPr lvl="1"/>
            <a:endParaRPr/>
          </a:p>
          <a:p>
            <a:pPr lvl="2"/>
            <a:endParaRPr/>
          </a:p>
          <a:p>
            <a:pPr lvl="3"/>
            <a:endParaRPr/>
          </a:p>
          <a:p>
            <a:pPr lvl="4"/>
            <a:endParaRPr/>
          </a:p>
        </p:txBody>
      </p:sp>
      <p:sp>
        <p:nvSpPr>
          <p:cNvPr id="52"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9" name="Body Level One…"/>
          <p:cNvSpPr txBox="1">
            <a:spLocks noGrp="1"/>
          </p:cNvSpPr>
          <p:nvPr>
            <p:ph type="body" sz="half" idx="1" hasCustomPrompt="1"/>
          </p:nvPr>
        </p:nvSpPr>
        <p:spPr>
          <a:xfrm>
            <a:off x="1727200" y="4965700"/>
            <a:ext cx="20929600" cy="6165850"/>
          </a:xfrm>
          <a:prstGeom prst="rect">
            <a:avLst/>
          </a:prstGeom>
        </p:spPr>
        <p:txBody>
          <a:bodyPr numCol="2" spcCol="1046480"/>
          <a:lstStyle>
            <a:lvl1pPr marL="4826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1pPr>
            <a:lvl2pPr marL="9652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2pPr>
            <a:lvl3pPr marL="14478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3pPr>
            <a:lvl4pPr marL="19304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4pPr>
            <a:lvl5pPr marL="24130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5pPr>
          </a:lstStyle>
          <a:p>
            <a:r>
              <a:t>Slide bullet text</a:t>
            </a:r>
          </a:p>
          <a:p>
            <a:pPr lvl="1"/>
            <a:endParaRPr/>
          </a:p>
          <a:p>
            <a:pPr lvl="2"/>
            <a:endParaRPr/>
          </a:p>
          <a:p>
            <a:pPr lvl="3"/>
            <a:endParaRPr/>
          </a:p>
          <a:p>
            <a:pPr lvl="4"/>
            <a:endParaRPr/>
          </a:p>
        </p:txBody>
      </p:sp>
      <p:sp>
        <p:nvSpPr>
          <p:cNvPr id="60"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67" name="Body Level One…"/>
          <p:cNvSpPr txBox="1">
            <a:spLocks noGrp="1"/>
          </p:cNvSpPr>
          <p:nvPr>
            <p:ph type="body" sz="quarter" idx="1" hasCustomPrompt="1"/>
          </p:nvPr>
        </p:nvSpPr>
        <p:spPr>
          <a:xfrm>
            <a:off x="13665200" y="7635875"/>
            <a:ext cx="9271000" cy="4568825"/>
          </a:xfrm>
          <a:prstGeom prst="rect">
            <a:avLst/>
          </a:prstGeom>
        </p:spPr>
        <p:txBody>
          <a:bodyPr/>
          <a:lstStyle>
            <a:lvl1pPr marL="4826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1pPr>
            <a:lvl2pPr marL="9652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2pPr>
            <a:lvl3pPr marL="14478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3pPr>
            <a:lvl4pPr marL="19304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4pPr>
            <a:lvl5pPr marL="24130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5pPr>
          </a:lstStyle>
          <a:p>
            <a:r>
              <a:t>Slide bullet text</a:t>
            </a:r>
          </a:p>
          <a:p>
            <a:pPr lvl="1"/>
            <a:endParaRPr/>
          </a:p>
          <a:p>
            <a:pPr lvl="2"/>
            <a:endParaRPr/>
          </a:p>
          <a:p>
            <a:pPr lvl="3"/>
            <a:endParaRPr/>
          </a:p>
          <a:p>
            <a:pPr lvl="4"/>
            <a:endParaRPr/>
          </a:p>
        </p:txBody>
      </p:sp>
      <p:sp>
        <p:nvSpPr>
          <p:cNvPr id="68" name="Suspension bridge over water at sunset"/>
          <p:cNvSpPr>
            <a:spLocks noGrp="1"/>
          </p:cNvSpPr>
          <p:nvPr>
            <p:ph type="pic" idx="21"/>
          </p:nvPr>
        </p:nvSpPr>
        <p:spPr>
          <a:xfrm>
            <a:off x="-3352800" y="0"/>
            <a:ext cx="16002000" cy="13716000"/>
          </a:xfrm>
          <a:prstGeom prst="rect">
            <a:avLst/>
          </a:prstGeom>
        </p:spPr>
        <p:txBody>
          <a:bodyPr lIns="91439" tIns="45719" rIns="91439" bIns="45719">
            <a:noAutofit/>
          </a:bodyPr>
          <a:lstStyle/>
          <a:p>
            <a:endParaRPr/>
          </a:p>
        </p:txBody>
      </p:sp>
      <p:sp>
        <p:nvSpPr>
          <p:cNvPr id="69" name="Slide Title"/>
          <p:cNvSpPr txBox="1">
            <a:spLocks noGrp="1"/>
          </p:cNvSpPr>
          <p:nvPr>
            <p:ph type="title" hasCustomPrompt="1"/>
          </p:nvPr>
        </p:nvSpPr>
        <p:spPr>
          <a:xfrm>
            <a:off x="13665200" y="4394200"/>
            <a:ext cx="9271000" cy="2540000"/>
          </a:xfrm>
          <a:prstGeom prst="rect">
            <a:avLst/>
          </a:prstGeom>
        </p:spPr>
        <p:txBody>
          <a:bodyPr anchor="t"/>
          <a:lstStyle>
            <a:lvl1pPr algn="l">
              <a:defRPr sz="8000" spc="-80"/>
            </a:lvl1pPr>
          </a:lstStyle>
          <a:p>
            <a:r>
              <a:t>Slide Title</a:t>
            </a:r>
          </a:p>
        </p:txBody>
      </p:sp>
      <p:sp>
        <p:nvSpPr>
          <p:cNvPr id="70" name="Author and Date"/>
          <p:cNvSpPr txBox="1">
            <a:spLocks noGrp="1"/>
          </p:cNvSpPr>
          <p:nvPr>
            <p:ph type="body" sz="quarter" idx="22" hasCustomPrompt="1"/>
          </p:nvPr>
        </p:nvSpPr>
        <p:spPr>
          <a:xfrm>
            <a:off x="13665200" y="3740611"/>
            <a:ext cx="9271000" cy="482601"/>
          </a:xfrm>
          <a:prstGeom prst="rect">
            <a:avLst/>
          </a:prstGeom>
        </p:spPr>
        <p:txBody>
          <a:bodyPr anchor="ctr"/>
          <a:lstStyle>
            <a:lvl1pPr algn="l" defTabSz="685800">
              <a:lnSpc>
                <a:spcPct val="100000"/>
              </a:lnSpc>
              <a:defRPr sz="2000" b="1" cap="all" spc="0">
                <a:solidFill>
                  <a:srgbClr val="227AAF"/>
                </a:solidFill>
              </a:defRPr>
            </a:lvl1pPr>
          </a:lstStyle>
          <a:p>
            <a:r>
              <a:t>Author and Date</a:t>
            </a:r>
          </a:p>
        </p:txBody>
      </p:sp>
      <p:sp>
        <p:nvSpPr>
          <p:cNvPr id="71" name="Line"/>
          <p:cNvSpPr/>
          <p:nvPr/>
        </p:nvSpPr>
        <p:spPr>
          <a:xfrm>
            <a:off x="13665200" y="3721100"/>
            <a:ext cx="9283700"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72" name="Line"/>
          <p:cNvSpPr/>
          <p:nvPr/>
        </p:nvSpPr>
        <p:spPr>
          <a:xfrm>
            <a:off x="13665200" y="7010400"/>
            <a:ext cx="9283700"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73"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Bullets &amp; Live Video Small">
    <p:spTree>
      <p:nvGrpSpPr>
        <p:cNvPr id="1" name=""/>
        <p:cNvGrpSpPr/>
        <p:nvPr/>
      </p:nvGrpSpPr>
      <p:grpSpPr>
        <a:xfrm>
          <a:off x="0" y="0"/>
          <a:ext cx="0" cy="0"/>
          <a:chOff x="0" y="0"/>
          <a:chExt cx="0" cy="0"/>
        </a:xfrm>
      </p:grpSpPr>
      <p:sp>
        <p:nvSpPr>
          <p:cNvPr id="80" name="Body Level One…"/>
          <p:cNvSpPr txBox="1">
            <a:spLocks noGrp="1"/>
          </p:cNvSpPr>
          <p:nvPr>
            <p:ph type="body" sz="quarter" idx="1" hasCustomPrompt="1"/>
          </p:nvPr>
        </p:nvSpPr>
        <p:spPr>
          <a:xfrm>
            <a:off x="13665200" y="7635875"/>
            <a:ext cx="9271000" cy="4568825"/>
          </a:xfrm>
          <a:prstGeom prst="rect">
            <a:avLst/>
          </a:prstGeom>
        </p:spPr>
        <p:txBody>
          <a:bodyPr/>
          <a:lstStyle>
            <a:lvl1pPr marL="4826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1pPr>
            <a:lvl2pPr marL="9652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2pPr>
            <a:lvl3pPr marL="14478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3pPr>
            <a:lvl4pPr marL="19304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4pPr>
            <a:lvl5pPr marL="24130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5pPr>
          </a:lstStyle>
          <a:p>
            <a:r>
              <a:t>Slide bullet text</a:t>
            </a:r>
          </a:p>
          <a:p>
            <a:pPr lvl="1"/>
            <a:endParaRPr/>
          </a:p>
          <a:p>
            <a:pPr lvl="2"/>
            <a:endParaRPr/>
          </a:p>
          <a:p>
            <a:pPr lvl="3"/>
            <a:endParaRPr/>
          </a:p>
          <a:p>
            <a:pPr lvl="4"/>
            <a:endParaRPr/>
          </a:p>
        </p:txBody>
      </p:sp>
      <p:sp>
        <p:nvSpPr>
          <p:cNvPr id="81" name="Slide Title"/>
          <p:cNvSpPr txBox="1">
            <a:spLocks noGrp="1"/>
          </p:cNvSpPr>
          <p:nvPr>
            <p:ph type="title" hasCustomPrompt="1"/>
          </p:nvPr>
        </p:nvSpPr>
        <p:spPr>
          <a:xfrm>
            <a:off x="13665200" y="4394200"/>
            <a:ext cx="9271000" cy="2540000"/>
          </a:xfrm>
          <a:prstGeom prst="rect">
            <a:avLst/>
          </a:prstGeom>
        </p:spPr>
        <p:txBody>
          <a:bodyPr anchor="t"/>
          <a:lstStyle>
            <a:lvl1pPr algn="l">
              <a:defRPr sz="8000" spc="-80"/>
            </a:lvl1pPr>
          </a:lstStyle>
          <a:p>
            <a:r>
              <a:t>Slide Title</a:t>
            </a:r>
          </a:p>
        </p:txBody>
      </p:sp>
      <p:sp>
        <p:nvSpPr>
          <p:cNvPr id="82" name="Author and Date"/>
          <p:cNvSpPr txBox="1">
            <a:spLocks noGrp="1"/>
          </p:cNvSpPr>
          <p:nvPr>
            <p:ph type="body" sz="quarter" idx="21" hasCustomPrompt="1"/>
          </p:nvPr>
        </p:nvSpPr>
        <p:spPr>
          <a:xfrm>
            <a:off x="13665200" y="3740611"/>
            <a:ext cx="9271000" cy="482601"/>
          </a:xfrm>
          <a:prstGeom prst="rect">
            <a:avLst/>
          </a:prstGeom>
        </p:spPr>
        <p:txBody>
          <a:bodyPr anchor="ctr"/>
          <a:lstStyle>
            <a:lvl1pPr algn="l" defTabSz="685800">
              <a:lnSpc>
                <a:spcPct val="100000"/>
              </a:lnSpc>
              <a:defRPr sz="2000" b="1" cap="all" spc="0">
                <a:solidFill>
                  <a:srgbClr val="227AAF"/>
                </a:solidFill>
              </a:defRPr>
            </a:lvl1pPr>
          </a:lstStyle>
          <a:p>
            <a:r>
              <a:t>Author and Date</a:t>
            </a:r>
          </a:p>
        </p:txBody>
      </p:sp>
      <p:sp>
        <p:nvSpPr>
          <p:cNvPr id="83" name="Line"/>
          <p:cNvSpPr/>
          <p:nvPr/>
        </p:nvSpPr>
        <p:spPr>
          <a:xfrm>
            <a:off x="13665200" y="3721100"/>
            <a:ext cx="9283700"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84" name="Line"/>
          <p:cNvSpPr/>
          <p:nvPr/>
        </p:nvSpPr>
        <p:spPr>
          <a:xfrm>
            <a:off x="13665200" y="7010400"/>
            <a:ext cx="9283700"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85"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Bullets &amp; Live Video Large">
    <p:spTree>
      <p:nvGrpSpPr>
        <p:cNvPr id="1" name=""/>
        <p:cNvGrpSpPr/>
        <p:nvPr/>
      </p:nvGrpSpPr>
      <p:grpSpPr>
        <a:xfrm>
          <a:off x="0" y="0"/>
          <a:ext cx="0" cy="0"/>
          <a:chOff x="0" y="0"/>
          <a:chExt cx="0" cy="0"/>
        </a:xfrm>
      </p:grpSpPr>
      <p:sp>
        <p:nvSpPr>
          <p:cNvPr id="92" name="Body Level One…"/>
          <p:cNvSpPr txBox="1">
            <a:spLocks noGrp="1"/>
          </p:cNvSpPr>
          <p:nvPr>
            <p:ph type="body" sz="quarter" idx="1" hasCustomPrompt="1"/>
          </p:nvPr>
        </p:nvSpPr>
        <p:spPr>
          <a:xfrm>
            <a:off x="13665200" y="7635875"/>
            <a:ext cx="9271000" cy="4568825"/>
          </a:xfrm>
          <a:prstGeom prst="rect">
            <a:avLst/>
          </a:prstGeom>
        </p:spPr>
        <p:txBody>
          <a:bodyPr/>
          <a:lstStyle>
            <a:lvl1pPr marL="4826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1pPr>
            <a:lvl2pPr marL="9652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2pPr>
            <a:lvl3pPr marL="14478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3pPr>
            <a:lvl4pPr marL="19304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4pPr>
            <a:lvl5pPr marL="2413000" indent="-482600" algn="l" defTabSz="12700">
              <a:lnSpc>
                <a:spcPct val="80000"/>
              </a:lnSpc>
              <a:spcBef>
                <a:spcPts val="2400"/>
              </a:spcBef>
              <a:buSzPct val="100000"/>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spc="0">
                <a:solidFill>
                  <a:srgbClr val="4A4A4A"/>
                </a:solidFill>
                <a:latin typeface="Avenir Next Medium"/>
                <a:ea typeface="Avenir Next Medium"/>
                <a:cs typeface="Avenir Next Medium"/>
                <a:sym typeface="Avenir Next Medium"/>
              </a:defRPr>
            </a:lvl5pPr>
          </a:lstStyle>
          <a:p>
            <a:r>
              <a:t>Slide bullet text</a:t>
            </a:r>
          </a:p>
          <a:p>
            <a:pPr lvl="1"/>
            <a:endParaRPr/>
          </a:p>
          <a:p>
            <a:pPr lvl="2"/>
            <a:endParaRPr/>
          </a:p>
          <a:p>
            <a:pPr lvl="3"/>
            <a:endParaRPr/>
          </a:p>
          <a:p>
            <a:pPr lvl="4"/>
            <a:endParaRPr/>
          </a:p>
        </p:txBody>
      </p:sp>
      <p:sp>
        <p:nvSpPr>
          <p:cNvPr id="93" name="Slide Title"/>
          <p:cNvSpPr txBox="1">
            <a:spLocks noGrp="1"/>
          </p:cNvSpPr>
          <p:nvPr>
            <p:ph type="title" hasCustomPrompt="1"/>
          </p:nvPr>
        </p:nvSpPr>
        <p:spPr>
          <a:xfrm>
            <a:off x="13665200" y="4394200"/>
            <a:ext cx="9271000" cy="2540000"/>
          </a:xfrm>
          <a:prstGeom prst="rect">
            <a:avLst/>
          </a:prstGeom>
        </p:spPr>
        <p:txBody>
          <a:bodyPr anchor="t"/>
          <a:lstStyle>
            <a:lvl1pPr algn="l">
              <a:defRPr sz="8000" spc="-80"/>
            </a:lvl1pPr>
          </a:lstStyle>
          <a:p>
            <a:r>
              <a:t>Slide Title</a:t>
            </a:r>
          </a:p>
        </p:txBody>
      </p:sp>
      <p:sp>
        <p:nvSpPr>
          <p:cNvPr id="94" name="Author and Date"/>
          <p:cNvSpPr txBox="1">
            <a:spLocks noGrp="1"/>
          </p:cNvSpPr>
          <p:nvPr>
            <p:ph type="body" sz="quarter" idx="21" hasCustomPrompt="1"/>
          </p:nvPr>
        </p:nvSpPr>
        <p:spPr>
          <a:xfrm>
            <a:off x="13665200" y="3740611"/>
            <a:ext cx="9271000" cy="482601"/>
          </a:xfrm>
          <a:prstGeom prst="rect">
            <a:avLst/>
          </a:prstGeom>
        </p:spPr>
        <p:txBody>
          <a:bodyPr anchor="ctr"/>
          <a:lstStyle>
            <a:lvl1pPr algn="l" defTabSz="685800">
              <a:lnSpc>
                <a:spcPct val="100000"/>
              </a:lnSpc>
              <a:defRPr sz="2000" b="1" cap="all" spc="0">
                <a:solidFill>
                  <a:srgbClr val="227AAF"/>
                </a:solidFill>
              </a:defRPr>
            </a:lvl1pPr>
          </a:lstStyle>
          <a:p>
            <a:r>
              <a:t>Author and Date</a:t>
            </a:r>
          </a:p>
        </p:txBody>
      </p:sp>
      <p:sp>
        <p:nvSpPr>
          <p:cNvPr id="95" name="Line"/>
          <p:cNvSpPr/>
          <p:nvPr/>
        </p:nvSpPr>
        <p:spPr>
          <a:xfrm>
            <a:off x="13665200" y="3721100"/>
            <a:ext cx="9283700"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96" name="Line"/>
          <p:cNvSpPr/>
          <p:nvPr/>
        </p:nvSpPr>
        <p:spPr>
          <a:xfrm>
            <a:off x="13665200" y="7010400"/>
            <a:ext cx="9283700"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97"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Section">
    <p:bg>
      <p:bgPr>
        <a:solidFill>
          <a:srgbClr val="227AAF"/>
        </a:solidFill>
        <a:effectLst/>
      </p:bgPr>
    </p:bg>
    <p:spTree>
      <p:nvGrpSpPr>
        <p:cNvPr id="1" name=""/>
        <p:cNvGrpSpPr/>
        <p:nvPr/>
      </p:nvGrpSpPr>
      <p:grpSpPr>
        <a:xfrm>
          <a:off x="0" y="0"/>
          <a:ext cx="0" cy="0"/>
          <a:chOff x="0" y="0"/>
          <a:chExt cx="0" cy="0"/>
        </a:xfrm>
      </p:grpSpPr>
      <p:sp>
        <p:nvSpPr>
          <p:cNvPr id="104" name="Section Title"/>
          <p:cNvSpPr txBox="1">
            <a:spLocks noGrp="1"/>
          </p:cNvSpPr>
          <p:nvPr>
            <p:ph type="title" hasCustomPrompt="1"/>
          </p:nvPr>
        </p:nvSpPr>
        <p:spPr>
          <a:xfrm>
            <a:off x="1727200" y="5410200"/>
            <a:ext cx="20929600" cy="2540000"/>
          </a:xfrm>
          <a:prstGeom prst="rect">
            <a:avLst/>
          </a:prstGeom>
        </p:spPr>
        <p:txBody>
          <a:bodyPr anchor="ctr"/>
          <a:lstStyle>
            <a:lvl1pPr algn="l">
              <a:defRPr>
                <a:solidFill>
                  <a:srgbClr val="FFFFFF"/>
                </a:solidFill>
              </a:defRPr>
            </a:lvl1pPr>
          </a:lstStyle>
          <a:p>
            <a:r>
              <a:t>Section Title</a:t>
            </a:r>
          </a:p>
        </p:txBody>
      </p:sp>
      <p:sp>
        <p:nvSpPr>
          <p:cNvPr id="105" name="Line"/>
          <p:cNvSpPr/>
          <p:nvPr/>
        </p:nvSpPr>
        <p:spPr>
          <a:xfrm>
            <a:off x="863600" y="12852400"/>
            <a:ext cx="22656801" cy="0"/>
          </a:xfrm>
          <a:prstGeom prst="line">
            <a:avLst/>
          </a:prstGeom>
          <a:ln w="12700">
            <a:solidFill>
              <a:srgbClr val="EFEBD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06" name="Line"/>
          <p:cNvSpPr/>
          <p:nvPr/>
        </p:nvSpPr>
        <p:spPr>
          <a:xfrm>
            <a:off x="863600" y="889000"/>
            <a:ext cx="22656801" cy="0"/>
          </a:xfrm>
          <a:prstGeom prst="line">
            <a:avLst/>
          </a:prstGeom>
          <a:ln w="50800">
            <a:solidFill>
              <a:srgbClr val="EFEBD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07" name="Slide Number"/>
          <p:cNvSpPr txBox="1">
            <a:spLocks noGrp="1"/>
          </p:cNvSpPr>
          <p:nvPr>
            <p:ph type="sldNum" sz="quarter" idx="2"/>
          </p:nvPr>
        </p:nvSpPr>
        <p:spPr>
          <a:xfrm>
            <a:off x="12001500" y="13030199"/>
            <a:ext cx="386335" cy="419101"/>
          </a:xfrm>
          <a:prstGeom prst="rect">
            <a:avLst/>
          </a:prstGeom>
        </p:spPr>
        <p:txBody>
          <a:bodyPr/>
          <a:lstStyle>
            <a:lvl1pPr>
              <a:defRPr>
                <a:solidFill>
                  <a:srgbClr val="F0EBE0"/>
                </a:solidFill>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14" name="Slide Title"/>
          <p:cNvSpPr txBox="1">
            <a:spLocks noGrp="1"/>
          </p:cNvSpPr>
          <p:nvPr>
            <p:ph type="title" hasCustomPrompt="1"/>
          </p:nvPr>
        </p:nvSpPr>
        <p:spPr>
          <a:xfrm>
            <a:off x="1727200" y="1739900"/>
            <a:ext cx="20929600" cy="3229571"/>
          </a:xfrm>
          <a:prstGeom prst="rect">
            <a:avLst/>
          </a:prstGeom>
        </p:spPr>
        <p:txBody>
          <a:bodyPr anchor="t"/>
          <a:lstStyle/>
          <a:p>
            <a:r>
              <a:t>Slide Title</a:t>
            </a:r>
          </a:p>
        </p:txBody>
      </p:sp>
      <p:sp>
        <p:nvSpPr>
          <p:cNvPr id="115" name="Author and Date"/>
          <p:cNvSpPr txBox="1">
            <a:spLocks noGrp="1"/>
          </p:cNvSpPr>
          <p:nvPr>
            <p:ph type="body" sz="quarter" idx="21" hasCustomPrompt="1"/>
          </p:nvPr>
        </p:nvSpPr>
        <p:spPr>
          <a:xfrm>
            <a:off x="1727200" y="1003300"/>
            <a:ext cx="20929600" cy="482600"/>
          </a:xfrm>
          <a:prstGeom prst="rect">
            <a:avLst/>
          </a:prstGeom>
        </p:spPr>
        <p:txBody>
          <a:bodyPr anchor="ctr"/>
          <a:lstStyle>
            <a:lvl1pPr defTabSz="685800">
              <a:lnSpc>
                <a:spcPct val="100000"/>
              </a:lnSpc>
              <a:defRPr sz="2000" b="1" cap="all" spc="0">
                <a:solidFill>
                  <a:srgbClr val="227AAF"/>
                </a:solidFill>
              </a:defRPr>
            </a:lvl1pPr>
          </a:lstStyle>
          <a:p>
            <a:r>
              <a:t>Author and Date</a:t>
            </a:r>
          </a:p>
        </p:txBody>
      </p:sp>
      <p:sp>
        <p:nvSpPr>
          <p:cNvPr id="116"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23" name="Agenda Title"/>
          <p:cNvSpPr txBox="1">
            <a:spLocks noGrp="1"/>
          </p:cNvSpPr>
          <p:nvPr>
            <p:ph type="title" hasCustomPrompt="1"/>
          </p:nvPr>
        </p:nvSpPr>
        <p:spPr>
          <a:xfrm>
            <a:off x="1727200" y="1739900"/>
            <a:ext cx="20929600" cy="3300115"/>
          </a:xfrm>
          <a:prstGeom prst="rect">
            <a:avLst/>
          </a:prstGeom>
        </p:spPr>
        <p:txBody>
          <a:bodyPr anchor="t"/>
          <a:lstStyle/>
          <a:p>
            <a:r>
              <a:t>Agenda Title</a:t>
            </a:r>
          </a:p>
        </p:txBody>
      </p:sp>
      <p:sp>
        <p:nvSpPr>
          <p:cNvPr id="124" name="Body Level One…"/>
          <p:cNvSpPr txBox="1">
            <a:spLocks noGrp="1"/>
          </p:cNvSpPr>
          <p:nvPr>
            <p:ph type="body" sz="half" idx="1" hasCustomPrompt="1"/>
          </p:nvPr>
        </p:nvSpPr>
        <p:spPr>
          <a:xfrm>
            <a:off x="1727200" y="5043258"/>
            <a:ext cx="20929600" cy="6172201"/>
          </a:xfrm>
          <a:prstGeom prst="rect">
            <a:avLst/>
          </a:prstGeom>
        </p:spPr>
        <p:txBody>
          <a:bodyPr/>
          <a:lstStyle>
            <a:lvl1pPr algn="l" defTabSz="12700">
              <a:lnSpc>
                <a:spcPct val="100000"/>
              </a:lnSpc>
              <a:spcBef>
                <a:spcPts val="24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600" spc="0">
                <a:solidFill>
                  <a:srgbClr val="4A4A4A"/>
                </a:solidFill>
                <a:latin typeface="Avenir Next Medium"/>
                <a:ea typeface="Avenir Next Medium"/>
                <a:cs typeface="Avenir Next Medium"/>
                <a:sym typeface="Avenir Next Medium"/>
              </a:defRPr>
            </a:lvl1pPr>
            <a:lvl2pPr algn="l" defTabSz="12700">
              <a:lnSpc>
                <a:spcPct val="100000"/>
              </a:lnSpc>
              <a:spcBef>
                <a:spcPts val="24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600" spc="0">
                <a:solidFill>
                  <a:srgbClr val="4A4A4A"/>
                </a:solidFill>
                <a:latin typeface="Avenir Next Medium"/>
                <a:ea typeface="Avenir Next Medium"/>
                <a:cs typeface="Avenir Next Medium"/>
                <a:sym typeface="Avenir Next Medium"/>
              </a:defRPr>
            </a:lvl2pPr>
            <a:lvl3pPr algn="l" defTabSz="12700">
              <a:lnSpc>
                <a:spcPct val="100000"/>
              </a:lnSpc>
              <a:spcBef>
                <a:spcPts val="24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600" spc="0">
                <a:solidFill>
                  <a:srgbClr val="4A4A4A"/>
                </a:solidFill>
                <a:latin typeface="Avenir Next Medium"/>
                <a:ea typeface="Avenir Next Medium"/>
                <a:cs typeface="Avenir Next Medium"/>
                <a:sym typeface="Avenir Next Medium"/>
              </a:defRPr>
            </a:lvl3pPr>
            <a:lvl4pPr algn="l" defTabSz="12700">
              <a:lnSpc>
                <a:spcPct val="100000"/>
              </a:lnSpc>
              <a:spcBef>
                <a:spcPts val="24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600" spc="0">
                <a:solidFill>
                  <a:srgbClr val="4A4A4A"/>
                </a:solidFill>
                <a:latin typeface="Avenir Next Medium"/>
                <a:ea typeface="Avenir Next Medium"/>
                <a:cs typeface="Avenir Next Medium"/>
                <a:sym typeface="Avenir Next Medium"/>
              </a:defRPr>
            </a:lvl4pPr>
            <a:lvl5pPr algn="l" defTabSz="12700">
              <a:lnSpc>
                <a:spcPct val="100000"/>
              </a:lnSpc>
              <a:spcBef>
                <a:spcPts val="24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5600" spc="0">
                <a:solidFill>
                  <a:srgbClr val="4A4A4A"/>
                </a:solidFill>
                <a:latin typeface="Avenir Next Medium"/>
                <a:ea typeface="Avenir Next Medium"/>
                <a:cs typeface="Avenir Next Medium"/>
                <a:sym typeface="Avenir Next Medium"/>
              </a:defRPr>
            </a:lvl5pPr>
          </a:lstStyle>
          <a:p>
            <a:r>
              <a:t>Agenda Topics</a:t>
            </a:r>
          </a:p>
          <a:p>
            <a:pPr lvl="1"/>
            <a:endParaRPr/>
          </a:p>
          <a:p>
            <a:pPr lvl="2"/>
            <a:endParaRPr/>
          </a:p>
          <a:p>
            <a:pPr lvl="3"/>
            <a:endParaRPr/>
          </a:p>
          <a:p>
            <a:pPr lvl="4"/>
            <a:endParaRPr/>
          </a:p>
        </p:txBody>
      </p:sp>
      <p:sp>
        <p:nvSpPr>
          <p:cNvPr id="125"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32" name="Body Level One…"/>
          <p:cNvSpPr txBox="1">
            <a:spLocks noGrp="1"/>
          </p:cNvSpPr>
          <p:nvPr>
            <p:ph type="body" sz="quarter" idx="1" hasCustomPrompt="1"/>
          </p:nvPr>
        </p:nvSpPr>
        <p:spPr>
          <a:xfrm>
            <a:off x="1727200" y="5281886"/>
            <a:ext cx="20929600" cy="3136901"/>
          </a:xfrm>
          <a:prstGeom prst="rect">
            <a:avLst/>
          </a:prstGeom>
        </p:spPr>
        <p:txBody>
          <a:bodyPr anchor="ctr"/>
          <a:lstStyle>
            <a:lvl1pPr>
              <a:lnSpc>
                <a:spcPct val="80000"/>
              </a:lnSpc>
              <a:defRPr sz="8600" spc="-86">
                <a:solidFill>
                  <a:srgbClr val="4A4A4A"/>
                </a:solidFill>
                <a:latin typeface="Publico Headline Roman"/>
                <a:ea typeface="Publico Headline Roman"/>
                <a:cs typeface="Publico Headline Roman"/>
                <a:sym typeface="Publico Headline Roman"/>
              </a:defRPr>
            </a:lvl1pPr>
            <a:lvl2pPr>
              <a:lnSpc>
                <a:spcPct val="80000"/>
              </a:lnSpc>
              <a:defRPr sz="8600" spc="-86">
                <a:solidFill>
                  <a:srgbClr val="4A4A4A"/>
                </a:solidFill>
                <a:latin typeface="Publico Headline Roman"/>
                <a:ea typeface="Publico Headline Roman"/>
                <a:cs typeface="Publico Headline Roman"/>
                <a:sym typeface="Publico Headline Roman"/>
              </a:defRPr>
            </a:lvl2pPr>
            <a:lvl3pPr>
              <a:lnSpc>
                <a:spcPct val="80000"/>
              </a:lnSpc>
              <a:defRPr sz="8600" spc="-86">
                <a:solidFill>
                  <a:srgbClr val="4A4A4A"/>
                </a:solidFill>
                <a:latin typeface="Publico Headline Roman"/>
                <a:ea typeface="Publico Headline Roman"/>
                <a:cs typeface="Publico Headline Roman"/>
                <a:sym typeface="Publico Headline Roman"/>
              </a:defRPr>
            </a:lvl3pPr>
            <a:lvl4pPr>
              <a:lnSpc>
                <a:spcPct val="80000"/>
              </a:lnSpc>
              <a:defRPr sz="8600" spc="-86">
                <a:solidFill>
                  <a:srgbClr val="4A4A4A"/>
                </a:solidFill>
                <a:latin typeface="Publico Headline Roman"/>
                <a:ea typeface="Publico Headline Roman"/>
                <a:cs typeface="Publico Headline Roman"/>
                <a:sym typeface="Publico Headline Roman"/>
              </a:defRPr>
            </a:lvl4pPr>
            <a:lvl5pPr>
              <a:lnSpc>
                <a:spcPct val="80000"/>
              </a:lnSpc>
              <a:defRPr sz="8600" spc="-86">
                <a:solidFill>
                  <a:srgbClr val="4A4A4A"/>
                </a:solidFill>
                <a:latin typeface="Publico Headline Roman"/>
                <a:ea typeface="Publico Headline Roman"/>
                <a:cs typeface="Publico Headline Roman"/>
                <a:sym typeface="Publico Headline Roman"/>
              </a:defRPr>
            </a:lvl5pPr>
          </a:lstStyle>
          <a:p>
            <a:r>
              <a:t>Statement</a:t>
            </a:r>
          </a:p>
          <a:p>
            <a:pPr lvl="1"/>
            <a:endParaRPr/>
          </a:p>
          <a:p>
            <a:pPr lvl="2"/>
            <a:endParaRPr/>
          </a:p>
          <a:p>
            <a:pPr lvl="3"/>
            <a:endParaRPr/>
          </a:p>
          <a:p>
            <a:pPr lvl="4"/>
            <a:endParaRPr/>
          </a:p>
        </p:txBody>
      </p:sp>
      <p:sp>
        <p:nvSpPr>
          <p:cNvPr id="133"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ig Fact">
    <p:bg>
      <p:bgPr>
        <a:solidFill>
          <a:srgbClr val="227AAF"/>
        </a:solidFill>
        <a:effectLst/>
      </p:bgPr>
    </p:bg>
    <p:spTree>
      <p:nvGrpSpPr>
        <p:cNvPr id="1" name=""/>
        <p:cNvGrpSpPr/>
        <p:nvPr/>
      </p:nvGrpSpPr>
      <p:grpSpPr>
        <a:xfrm>
          <a:off x="0" y="0"/>
          <a:ext cx="0" cy="0"/>
          <a:chOff x="0" y="0"/>
          <a:chExt cx="0" cy="0"/>
        </a:xfrm>
      </p:grpSpPr>
      <p:sp>
        <p:nvSpPr>
          <p:cNvPr id="140" name="Fact information"/>
          <p:cNvSpPr txBox="1">
            <a:spLocks noGrp="1"/>
          </p:cNvSpPr>
          <p:nvPr>
            <p:ph type="body" sz="quarter" idx="21" hasCustomPrompt="1"/>
          </p:nvPr>
        </p:nvSpPr>
        <p:spPr>
          <a:xfrm>
            <a:off x="1727200" y="8611966"/>
            <a:ext cx="20929600" cy="908813"/>
          </a:xfrm>
          <a:prstGeom prst="rect">
            <a:avLst/>
          </a:prstGeom>
        </p:spPr>
        <p:txBody>
          <a:bodyPr/>
          <a:lstStyle>
            <a:lvl1pPr>
              <a:spcBef>
                <a:spcPts val="2000"/>
              </a:spcBef>
              <a:defRPr>
                <a:solidFill>
                  <a:srgbClr val="F0EBE0"/>
                </a:solidFill>
              </a:defRPr>
            </a:lvl1pPr>
          </a:lstStyle>
          <a:p>
            <a:r>
              <a:t>Fact information</a:t>
            </a:r>
          </a:p>
        </p:txBody>
      </p:sp>
      <p:sp>
        <p:nvSpPr>
          <p:cNvPr id="141" name="Line"/>
          <p:cNvSpPr/>
          <p:nvPr/>
        </p:nvSpPr>
        <p:spPr>
          <a:xfrm>
            <a:off x="863600" y="12852400"/>
            <a:ext cx="22656801" cy="0"/>
          </a:xfrm>
          <a:prstGeom prst="line">
            <a:avLst/>
          </a:prstGeom>
          <a:ln w="12700">
            <a:solidFill>
              <a:srgbClr val="EFEBD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42" name="Line"/>
          <p:cNvSpPr/>
          <p:nvPr/>
        </p:nvSpPr>
        <p:spPr>
          <a:xfrm>
            <a:off x="863600" y="889000"/>
            <a:ext cx="22656801" cy="0"/>
          </a:xfrm>
          <a:prstGeom prst="line">
            <a:avLst/>
          </a:prstGeom>
          <a:ln w="50800">
            <a:solidFill>
              <a:srgbClr val="EFEBD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43" name="Body Level One…"/>
          <p:cNvSpPr txBox="1">
            <a:spLocks noGrp="1"/>
          </p:cNvSpPr>
          <p:nvPr>
            <p:ph type="body" idx="1" hasCustomPrompt="1"/>
          </p:nvPr>
        </p:nvSpPr>
        <p:spPr>
          <a:xfrm>
            <a:off x="1727200" y="1098623"/>
            <a:ext cx="20929600" cy="7461177"/>
          </a:xfrm>
          <a:prstGeom prst="rect">
            <a:avLst/>
          </a:prstGeom>
        </p:spPr>
        <p:txBody>
          <a:bodyPr anchor="b"/>
          <a:lstStyle>
            <a:lvl1pPr>
              <a:lnSpc>
                <a:spcPct val="70000"/>
              </a:lnSpc>
              <a:defRPr sz="30000" b="1" spc="-300">
                <a:solidFill>
                  <a:srgbClr val="FFFFFF"/>
                </a:solidFill>
                <a:latin typeface="Publico Headline Roman"/>
                <a:ea typeface="Publico Headline Roman"/>
                <a:cs typeface="Publico Headline Roman"/>
                <a:sym typeface="Publico Headline Roman"/>
              </a:defRPr>
            </a:lvl1pPr>
            <a:lvl2pPr>
              <a:lnSpc>
                <a:spcPct val="70000"/>
              </a:lnSpc>
              <a:defRPr sz="30000" b="1" spc="-300">
                <a:solidFill>
                  <a:srgbClr val="FFFFFF"/>
                </a:solidFill>
                <a:latin typeface="Publico Headline Roman"/>
                <a:ea typeface="Publico Headline Roman"/>
                <a:cs typeface="Publico Headline Roman"/>
                <a:sym typeface="Publico Headline Roman"/>
              </a:defRPr>
            </a:lvl2pPr>
            <a:lvl3pPr>
              <a:lnSpc>
                <a:spcPct val="70000"/>
              </a:lnSpc>
              <a:defRPr sz="30000" b="1" spc="-300">
                <a:solidFill>
                  <a:srgbClr val="FFFFFF"/>
                </a:solidFill>
                <a:latin typeface="Publico Headline Roman"/>
                <a:ea typeface="Publico Headline Roman"/>
                <a:cs typeface="Publico Headline Roman"/>
                <a:sym typeface="Publico Headline Roman"/>
              </a:defRPr>
            </a:lvl3pPr>
            <a:lvl4pPr>
              <a:lnSpc>
                <a:spcPct val="70000"/>
              </a:lnSpc>
              <a:defRPr sz="30000" b="1" spc="-300">
                <a:solidFill>
                  <a:srgbClr val="FFFFFF"/>
                </a:solidFill>
                <a:latin typeface="Publico Headline Roman"/>
                <a:ea typeface="Publico Headline Roman"/>
                <a:cs typeface="Publico Headline Roman"/>
                <a:sym typeface="Publico Headline Roman"/>
              </a:defRPr>
            </a:lvl4pPr>
            <a:lvl5pPr>
              <a:lnSpc>
                <a:spcPct val="70000"/>
              </a:lnSpc>
              <a:defRPr sz="30000" b="1" spc="-300">
                <a:solidFill>
                  <a:srgbClr val="FFFFFF"/>
                </a:solidFill>
                <a:latin typeface="Publico Headline Roman"/>
                <a:ea typeface="Publico Headline Roman"/>
                <a:cs typeface="Publico Headline Roman"/>
                <a:sym typeface="Publico Headline Roman"/>
              </a:defRPr>
            </a:lvl5pPr>
          </a:lstStyle>
          <a:p>
            <a:r>
              <a:t>100%</a:t>
            </a:r>
          </a:p>
          <a:p>
            <a:pPr lvl="1"/>
            <a:endParaRPr/>
          </a:p>
          <a:p>
            <a:pPr lvl="2"/>
            <a:endParaRPr/>
          </a:p>
          <a:p>
            <a:pPr lvl="3"/>
            <a:endParaRPr/>
          </a:p>
          <a:p>
            <a:pPr lvl="4"/>
            <a:endParaRPr/>
          </a:p>
        </p:txBody>
      </p:sp>
      <p:sp>
        <p:nvSpPr>
          <p:cNvPr id="144" name="Slide Number"/>
          <p:cNvSpPr txBox="1">
            <a:spLocks noGrp="1"/>
          </p:cNvSpPr>
          <p:nvPr>
            <p:ph type="sldNum" sz="quarter" idx="2"/>
          </p:nvPr>
        </p:nvSpPr>
        <p:spPr>
          <a:xfrm>
            <a:off x="12001500" y="13030199"/>
            <a:ext cx="386335" cy="419101"/>
          </a:xfrm>
          <a:prstGeom prst="rect">
            <a:avLst/>
          </a:prstGeom>
        </p:spPr>
        <p:txBody>
          <a:bodyPr/>
          <a:lstStyle>
            <a:lvl1pPr>
              <a:defRPr>
                <a:solidFill>
                  <a:srgbClr val="F0EBE0"/>
                </a:solidFill>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Quote">
    <p:spTree>
      <p:nvGrpSpPr>
        <p:cNvPr id="1" name=""/>
        <p:cNvGrpSpPr/>
        <p:nvPr/>
      </p:nvGrpSpPr>
      <p:grpSpPr>
        <a:xfrm>
          <a:off x="0" y="0"/>
          <a:ext cx="0" cy="0"/>
          <a:chOff x="0" y="0"/>
          <a:chExt cx="0" cy="0"/>
        </a:xfrm>
      </p:grpSpPr>
      <p:sp>
        <p:nvSpPr>
          <p:cNvPr id="151" name="The Royal Danish Playhouse, a modern waterfront building in Copenhagen, viewed from the harbor at sunset"/>
          <p:cNvSpPr>
            <a:spLocks noGrp="1"/>
          </p:cNvSpPr>
          <p:nvPr>
            <p:ph type="pic" idx="21"/>
          </p:nvPr>
        </p:nvSpPr>
        <p:spPr>
          <a:xfrm>
            <a:off x="-25400" y="-5359400"/>
            <a:ext cx="24422100" cy="24422100"/>
          </a:xfrm>
          <a:prstGeom prst="rect">
            <a:avLst/>
          </a:prstGeom>
        </p:spPr>
        <p:txBody>
          <a:bodyPr lIns="91439" tIns="45719" rIns="91439" bIns="45719">
            <a:noAutofit/>
          </a:bodyPr>
          <a:lstStyle/>
          <a:p>
            <a:endParaRPr/>
          </a:p>
        </p:txBody>
      </p:sp>
      <p:sp>
        <p:nvSpPr>
          <p:cNvPr id="152" name="Body Level One…"/>
          <p:cNvSpPr txBox="1">
            <a:spLocks noGrp="1"/>
          </p:cNvSpPr>
          <p:nvPr>
            <p:ph type="body" sz="quarter" idx="1" hasCustomPrompt="1"/>
          </p:nvPr>
        </p:nvSpPr>
        <p:spPr>
          <a:xfrm>
            <a:off x="1409700" y="2119884"/>
            <a:ext cx="10775585" cy="1936416"/>
          </a:xfrm>
          <a:prstGeom prst="rect">
            <a:avLst/>
          </a:prstGeom>
        </p:spPr>
        <p:txBody>
          <a:bodyPr/>
          <a:lstStyle>
            <a:lvl1pPr>
              <a:defRPr sz="5800" spc="-58">
                <a:solidFill>
                  <a:srgbClr val="247AB0"/>
                </a:solidFill>
                <a:latin typeface="Publico Headline Roman"/>
                <a:ea typeface="Publico Headline Roman"/>
                <a:cs typeface="Publico Headline Roman"/>
                <a:sym typeface="Publico Headline Roman"/>
              </a:defRPr>
            </a:lvl1pPr>
            <a:lvl2pPr>
              <a:defRPr sz="5800" spc="-58">
                <a:solidFill>
                  <a:srgbClr val="247AB0"/>
                </a:solidFill>
                <a:latin typeface="Publico Headline Roman"/>
                <a:ea typeface="Publico Headline Roman"/>
                <a:cs typeface="Publico Headline Roman"/>
                <a:sym typeface="Publico Headline Roman"/>
              </a:defRPr>
            </a:lvl2pPr>
            <a:lvl3pPr>
              <a:defRPr sz="5800" spc="-58">
                <a:solidFill>
                  <a:srgbClr val="247AB0"/>
                </a:solidFill>
                <a:latin typeface="Publico Headline Roman"/>
                <a:ea typeface="Publico Headline Roman"/>
                <a:cs typeface="Publico Headline Roman"/>
                <a:sym typeface="Publico Headline Roman"/>
              </a:defRPr>
            </a:lvl3pPr>
            <a:lvl4pPr>
              <a:defRPr sz="5800" spc="-58">
                <a:solidFill>
                  <a:srgbClr val="247AB0"/>
                </a:solidFill>
                <a:latin typeface="Publico Headline Roman"/>
                <a:ea typeface="Publico Headline Roman"/>
                <a:cs typeface="Publico Headline Roman"/>
                <a:sym typeface="Publico Headline Roman"/>
              </a:defRPr>
            </a:lvl4pPr>
            <a:lvl5pPr>
              <a:defRPr sz="5800" spc="-58">
                <a:solidFill>
                  <a:srgbClr val="247AB0"/>
                </a:solidFill>
                <a:latin typeface="Publico Headline Roman"/>
                <a:ea typeface="Publico Headline Roman"/>
                <a:cs typeface="Publico Headline Roman"/>
                <a:sym typeface="Publico Headline Roman"/>
              </a:defRPr>
            </a:lvl5pPr>
          </a:lstStyle>
          <a:p>
            <a:r>
              <a:t>“Notable Quote”</a:t>
            </a:r>
          </a:p>
          <a:p>
            <a:pPr lvl="1"/>
            <a:endParaRPr/>
          </a:p>
          <a:p>
            <a:pPr lvl="2"/>
            <a:endParaRPr/>
          </a:p>
          <a:p>
            <a:pPr lvl="3"/>
            <a:endParaRPr/>
          </a:p>
          <a:p>
            <a:pPr lvl="4"/>
            <a:endParaRPr/>
          </a:p>
        </p:txBody>
      </p:sp>
      <p:sp>
        <p:nvSpPr>
          <p:cNvPr id="153" name="Line"/>
          <p:cNvSpPr/>
          <p:nvPr/>
        </p:nvSpPr>
        <p:spPr>
          <a:xfrm>
            <a:off x="863600" y="889000"/>
            <a:ext cx="22656801"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54" name="Line"/>
          <p:cNvSpPr/>
          <p:nvPr/>
        </p:nvSpPr>
        <p:spPr>
          <a:xfrm>
            <a:off x="863600" y="12852400"/>
            <a:ext cx="22656801"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155" name="Attribution"/>
          <p:cNvSpPr txBox="1">
            <a:spLocks noGrp="1"/>
          </p:cNvSpPr>
          <p:nvPr>
            <p:ph type="body" sz="quarter" idx="22" hasCustomPrompt="1"/>
          </p:nvPr>
        </p:nvSpPr>
        <p:spPr>
          <a:xfrm>
            <a:off x="1409700" y="4051453"/>
            <a:ext cx="10775585" cy="543053"/>
          </a:xfrm>
          <a:prstGeom prst="rect">
            <a:avLst/>
          </a:prstGeom>
        </p:spPr>
        <p:txBody>
          <a:bodyPr anchor="ctr"/>
          <a:lstStyle>
            <a:lvl1pPr defTabSz="12700">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spc="0">
                <a:solidFill>
                  <a:srgbClr val="227AAF"/>
                </a:solidFill>
                <a:latin typeface="Publico Text Semibold"/>
                <a:ea typeface="Publico Text Semibold"/>
                <a:cs typeface="Publico Text Semibold"/>
                <a:sym typeface="Publico Text Semibold"/>
              </a:defRPr>
            </a:lvl1pPr>
          </a:lstStyle>
          <a:p>
            <a:r>
              <a:t>Attribution</a:t>
            </a:r>
          </a:p>
        </p:txBody>
      </p:sp>
      <p:sp>
        <p:nvSpPr>
          <p:cNvPr id="156"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Photo - 3 Up">
    <p:spTree>
      <p:nvGrpSpPr>
        <p:cNvPr id="1" name=""/>
        <p:cNvGrpSpPr/>
        <p:nvPr/>
      </p:nvGrpSpPr>
      <p:grpSpPr>
        <a:xfrm>
          <a:off x="0" y="0"/>
          <a:ext cx="0" cy="0"/>
          <a:chOff x="0" y="0"/>
          <a:chExt cx="0" cy="0"/>
        </a:xfrm>
      </p:grpSpPr>
      <p:sp>
        <p:nvSpPr>
          <p:cNvPr id="163" name="The Royal Danish Playhouse, a modern waterfront building in Copenhagen, viewed from the harbor at sunset"/>
          <p:cNvSpPr>
            <a:spLocks noGrp="1"/>
          </p:cNvSpPr>
          <p:nvPr>
            <p:ph type="pic" sz="quarter" idx="21"/>
          </p:nvPr>
        </p:nvSpPr>
        <p:spPr>
          <a:xfrm>
            <a:off x="14727242" y="5618197"/>
            <a:ext cx="7877462" cy="7877463"/>
          </a:xfrm>
          <a:prstGeom prst="rect">
            <a:avLst/>
          </a:prstGeom>
        </p:spPr>
        <p:txBody>
          <a:bodyPr lIns="91439" tIns="45719" rIns="91439" bIns="45719">
            <a:noAutofit/>
          </a:bodyPr>
          <a:lstStyle/>
          <a:p>
            <a:endParaRPr/>
          </a:p>
        </p:txBody>
      </p:sp>
      <p:sp>
        <p:nvSpPr>
          <p:cNvPr id="164" name="The Black Diamond, a modern waterfront extension to the Royal Danish Library building in Copenhagen, lit up at night"/>
          <p:cNvSpPr>
            <a:spLocks noGrp="1"/>
          </p:cNvSpPr>
          <p:nvPr>
            <p:ph type="pic" sz="quarter" idx="22"/>
          </p:nvPr>
        </p:nvSpPr>
        <p:spPr>
          <a:xfrm>
            <a:off x="14700215" y="1511300"/>
            <a:ext cx="7943851" cy="5295900"/>
          </a:xfrm>
          <a:prstGeom prst="rect">
            <a:avLst/>
          </a:prstGeom>
        </p:spPr>
        <p:txBody>
          <a:bodyPr lIns="91439" tIns="45719" rIns="91439" bIns="45719">
            <a:noAutofit/>
          </a:bodyPr>
          <a:lstStyle/>
          <a:p>
            <a:endParaRPr/>
          </a:p>
        </p:txBody>
      </p:sp>
      <p:sp>
        <p:nvSpPr>
          <p:cNvPr id="165" name="Suspension bridge over water at sunset"/>
          <p:cNvSpPr>
            <a:spLocks noGrp="1"/>
          </p:cNvSpPr>
          <p:nvPr>
            <p:ph type="pic" idx="23"/>
          </p:nvPr>
        </p:nvSpPr>
        <p:spPr>
          <a:xfrm>
            <a:off x="1778000" y="1346200"/>
            <a:ext cx="12852400" cy="11016343"/>
          </a:xfrm>
          <a:prstGeom prst="rect">
            <a:avLst/>
          </a:prstGeom>
        </p:spPr>
        <p:txBody>
          <a:bodyPr lIns="91439" tIns="45719" rIns="91439" bIns="45719">
            <a:noAutofit/>
          </a:bodyPr>
          <a:lstStyle/>
          <a:p>
            <a:endParaRPr/>
          </a:p>
        </p:txBody>
      </p:sp>
      <p:sp>
        <p:nvSpPr>
          <p:cNvPr id="166"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73" name="Aerial photo of the Circle Bridge, a modern pedestrian bridge in Copenhagen with five circular platforms"/>
          <p:cNvSpPr>
            <a:spLocks noGrp="1"/>
          </p:cNvSpPr>
          <p:nvPr>
            <p:ph type="pic" idx="21"/>
          </p:nvPr>
        </p:nvSpPr>
        <p:spPr>
          <a:xfrm>
            <a:off x="1727200" y="-1422400"/>
            <a:ext cx="21310600" cy="15989300"/>
          </a:xfrm>
          <a:prstGeom prst="rect">
            <a:avLst/>
          </a:prstGeom>
        </p:spPr>
        <p:txBody>
          <a:bodyPr lIns="91439" tIns="45719" rIns="91439" bIns="45719">
            <a:noAutofit/>
          </a:bodyPr>
          <a:lstStyle/>
          <a:p>
            <a:endParaRPr/>
          </a:p>
        </p:txBody>
      </p:sp>
      <p:sp>
        <p:nvSpPr>
          <p:cNvPr id="174"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81" name="Slide Number"/>
          <p:cNvSpPr txBox="1">
            <a:spLocks noGrp="1"/>
          </p:cNvSpPr>
          <p:nvPr>
            <p:ph type="sldNum" sz="quarter" idx="2"/>
          </p:nvPr>
        </p:nvSpPr>
        <p:spPr>
          <a:xfrm>
            <a:off x="12001500" y="13030199"/>
            <a:ext cx="386335" cy="41910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BE0"/>
        </a:solidFill>
        <a:effectLst/>
      </p:bgPr>
    </p:bg>
    <p:spTree>
      <p:nvGrpSpPr>
        <p:cNvPr id="1" name=""/>
        <p:cNvGrpSpPr/>
        <p:nvPr/>
      </p:nvGrpSpPr>
      <p:grpSpPr>
        <a:xfrm>
          <a:off x="0" y="0"/>
          <a:ext cx="0" cy="0"/>
          <a:chOff x="0" y="0"/>
          <a:chExt cx="0" cy="0"/>
        </a:xfrm>
      </p:grpSpPr>
      <p:sp>
        <p:nvSpPr>
          <p:cNvPr id="2" name="Presentation Title"/>
          <p:cNvSpPr txBox="1">
            <a:spLocks noGrp="1"/>
          </p:cNvSpPr>
          <p:nvPr>
            <p:ph type="title" hasCustomPrompt="1"/>
          </p:nvPr>
        </p:nvSpPr>
        <p:spPr>
          <a:xfrm>
            <a:off x="1727200" y="4428480"/>
            <a:ext cx="20929600" cy="27978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Presentation Title</a:t>
            </a:r>
          </a:p>
        </p:txBody>
      </p:sp>
      <p:sp>
        <p:nvSpPr>
          <p:cNvPr id="3" name="Line"/>
          <p:cNvSpPr/>
          <p:nvPr/>
        </p:nvSpPr>
        <p:spPr>
          <a:xfrm>
            <a:off x="863600" y="889000"/>
            <a:ext cx="22656801" cy="0"/>
          </a:xfrm>
          <a:prstGeom prst="line">
            <a:avLst/>
          </a:prstGeom>
          <a:ln w="508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4" name="Line"/>
          <p:cNvSpPr/>
          <p:nvPr/>
        </p:nvSpPr>
        <p:spPr>
          <a:xfrm>
            <a:off x="863600" y="12852400"/>
            <a:ext cx="22656801" cy="0"/>
          </a:xfrm>
          <a:prstGeom prst="line">
            <a:avLst/>
          </a:prstGeom>
          <a:ln w="12700">
            <a:solidFill>
              <a:srgbClr val="227AAF"/>
            </a:solidFill>
            <a:miter lim="400000"/>
          </a:ln>
        </p:spPr>
        <p:txBody>
          <a:bodyPr lIns="0" tIns="0" rIns="0" bIns="0" anchor="ctr"/>
          <a:lstStyle/>
          <a:p>
            <a:pPr algn="ctr">
              <a:lnSpc>
                <a:spcPct val="100000"/>
              </a:lnSpc>
              <a:spcBef>
                <a:spcPts val="0"/>
              </a:spcBef>
              <a:defRPr sz="3000" cap="all">
                <a:solidFill>
                  <a:srgbClr val="FFFFFF"/>
                </a:solidFill>
                <a:latin typeface="Publico Text Roman"/>
                <a:ea typeface="Publico Text Roman"/>
                <a:cs typeface="Publico Text Roman"/>
                <a:sym typeface="Publico Text Roman"/>
              </a:defRPr>
            </a:pPr>
            <a:endParaRPr/>
          </a:p>
        </p:txBody>
      </p:sp>
      <p:sp>
        <p:nvSpPr>
          <p:cNvPr id="5" name="Body Level One…"/>
          <p:cNvSpPr txBox="1">
            <a:spLocks noGrp="1"/>
          </p:cNvSpPr>
          <p:nvPr>
            <p:ph type="body" idx="1" hasCustomPrompt="1"/>
          </p:nvPr>
        </p:nvSpPr>
        <p:spPr>
          <a:xfrm>
            <a:off x="1727200" y="7251700"/>
            <a:ext cx="20929600" cy="20382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Presentation Subtitle</a:t>
            </a:r>
          </a:p>
          <a:p>
            <a:pPr lvl="1"/>
            <a:endParaRPr/>
          </a:p>
          <a:p>
            <a:pPr lvl="2"/>
            <a:endParaRPr/>
          </a:p>
          <a:p>
            <a:pPr lvl="3"/>
            <a:endParaRPr/>
          </a:p>
          <a:p>
            <a:pPr lvl="4"/>
            <a:endParaRPr/>
          </a:p>
        </p:txBody>
      </p:sp>
      <p:sp>
        <p:nvSpPr>
          <p:cNvPr id="6" name="Slide Number"/>
          <p:cNvSpPr txBox="1">
            <a:spLocks noGrp="1"/>
          </p:cNvSpPr>
          <p:nvPr>
            <p:ph type="sldNum" sz="quarter" idx="2"/>
          </p:nvPr>
        </p:nvSpPr>
        <p:spPr>
          <a:xfrm>
            <a:off x="11998832" y="13030199"/>
            <a:ext cx="386335" cy="419101"/>
          </a:xfrm>
          <a:prstGeom prst="rect">
            <a:avLst/>
          </a:prstGeom>
          <a:ln w="12700">
            <a:miter lim="400000"/>
          </a:ln>
        </p:spPr>
        <p:txBody>
          <a:bodyPr wrap="none" lIns="50800" tIns="50800" rIns="50800" bIns="50800" anchor="b">
            <a:spAutoFit/>
          </a:bodyPr>
          <a:lstStyle>
            <a:lvl1pPr algn="ctr" defTabSz="821531">
              <a:lnSpc>
                <a:spcPct val="100000"/>
              </a:lnSpc>
              <a:spcBef>
                <a:spcPts val="0"/>
              </a:spcBef>
              <a:tabLst/>
              <a:defRPr sz="1800">
                <a:solidFill>
                  <a:srgbClr val="227AAF"/>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1pPr>
      <a:lvl2pPr marL="0" marR="0" indent="4572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2pPr>
      <a:lvl3pPr marL="0" marR="0" indent="9144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3pPr>
      <a:lvl4pPr marL="0" marR="0" indent="13716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4pPr>
      <a:lvl5pPr marL="0" marR="0" indent="18288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5pPr>
      <a:lvl6pPr marL="0" marR="0" indent="22860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6pPr>
      <a:lvl7pPr marL="0" marR="0" indent="27432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7pPr>
      <a:lvl8pPr marL="0" marR="0" indent="32004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8pPr>
      <a:lvl9pPr marL="0" marR="0" indent="3657600" algn="ctr" defTabSz="584200" rtl="0" latinLnBrk="0">
        <a:lnSpc>
          <a:spcPct val="80000"/>
        </a:lnSpc>
        <a:spcBef>
          <a:spcPts val="0"/>
        </a:spcBef>
        <a:spcAft>
          <a:spcPts val="0"/>
        </a:spcAft>
        <a:buClrTx/>
        <a:buSzTx/>
        <a:buFontTx/>
        <a:buNone/>
        <a:tabLst/>
        <a:defRPr sz="8600" b="0" i="0" u="none" strike="noStrike" cap="none" spc="-86" baseline="0">
          <a:solidFill>
            <a:srgbClr val="4A4A4A"/>
          </a:solidFill>
          <a:uFillTx/>
          <a:latin typeface="+mn-lt"/>
          <a:ea typeface="+mn-ea"/>
          <a:cs typeface="+mn-cs"/>
          <a:sym typeface="Publico Headline Black"/>
        </a:defRPr>
      </a:lvl9pPr>
    </p:titleStyle>
    <p:bodyStyle>
      <a:lvl1pPr marL="0" marR="0" indent="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1pPr>
      <a:lvl2pPr marL="0" marR="0" indent="4572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2pPr>
      <a:lvl3pPr marL="0" marR="0" indent="9144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3pPr>
      <a:lvl4pPr marL="0" marR="0" indent="13716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4pPr>
      <a:lvl5pPr marL="0" marR="0" indent="18288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5pPr>
      <a:lvl6pPr marL="0" marR="0" indent="22860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6pPr>
      <a:lvl7pPr marL="0" marR="0" indent="27432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7pPr>
      <a:lvl8pPr marL="0" marR="0" indent="32004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8pPr>
      <a:lvl9pPr marL="0" marR="0" indent="3657600" algn="ctr" defTabSz="584200" rtl="0" latinLnBrk="0">
        <a:lnSpc>
          <a:spcPct val="90000"/>
        </a:lnSpc>
        <a:spcBef>
          <a:spcPts val="0"/>
        </a:spcBef>
        <a:spcAft>
          <a:spcPts val="0"/>
        </a:spcAft>
        <a:buClrTx/>
        <a:buSzTx/>
        <a:buFontTx/>
        <a:buNone/>
        <a:tabLst/>
        <a:defRPr sz="4400" b="0" i="0" u="none" strike="noStrike" cap="none" spc="-44" baseline="0">
          <a:solidFill>
            <a:srgbClr val="227AAE"/>
          </a:solidFill>
          <a:uFillTx/>
          <a:latin typeface="Publico Text Roman"/>
          <a:ea typeface="Publico Text Roman"/>
          <a:cs typeface="Publico Text Roman"/>
          <a:sym typeface="Publico Text Roman"/>
        </a:defRPr>
      </a:lvl9pPr>
    </p:bodyStyle>
    <p:otherStyle>
      <a:lvl1pPr marL="0" marR="0" indent="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1pPr>
      <a:lvl2pPr marL="0" marR="0" indent="4572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2pPr>
      <a:lvl3pPr marL="0" marR="0" indent="9144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3pPr>
      <a:lvl4pPr marL="0" marR="0" indent="13716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4pPr>
      <a:lvl5pPr marL="0" marR="0" indent="18288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5pPr>
      <a:lvl6pPr marL="0" marR="0" indent="22860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6pPr>
      <a:lvl7pPr marL="0" marR="0" indent="27432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7pPr>
      <a:lvl8pPr marL="0" marR="0" indent="32004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8pPr>
      <a:lvl9pPr marL="0" marR="0" indent="3657600" algn="ctr" defTabSz="821531"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venir Next Medium"/>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mailto:myname@gmail.com"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Storytelling with Data"/>
          <p:cNvSpPr txBox="1">
            <a:spLocks noGrp="1"/>
          </p:cNvSpPr>
          <p:nvPr>
            <p:ph type="title"/>
          </p:nvPr>
        </p:nvSpPr>
        <p:spPr>
          <a:xfrm>
            <a:off x="13665200" y="4692904"/>
            <a:ext cx="9271000" cy="2540000"/>
          </a:xfrm>
        </p:spPr>
        <p:txBody>
          <a:bodyPr anchor="t">
            <a:normAutofit/>
          </a:bodyPr>
          <a:lstStyle/>
          <a:p>
            <a:r>
              <a:rPr lang="en-US" sz="5600" dirty="0"/>
              <a:t>NBA Game Performance Analysis: Exploring Home Court Advantage and Scoring Trends</a:t>
            </a:r>
          </a:p>
        </p:txBody>
      </p:sp>
      <p:sp>
        <p:nvSpPr>
          <p:cNvPr id="191" name="Presentation Template"/>
          <p:cNvSpPr txBox="1">
            <a:spLocks noGrp="1"/>
          </p:cNvSpPr>
          <p:nvPr>
            <p:ph type="body" sz="quarter" idx="1"/>
          </p:nvPr>
        </p:nvSpPr>
        <p:spPr>
          <a:xfrm>
            <a:off x="13665200" y="7394448"/>
            <a:ext cx="9271000" cy="2312637"/>
          </a:xfrm>
        </p:spPr>
        <p:txBody>
          <a:bodyPr>
            <a:normAutofit/>
          </a:bodyPr>
          <a:lstStyle/>
          <a:p>
            <a:pPr>
              <a:spcAft>
                <a:spcPts val="600"/>
              </a:spcAft>
            </a:pPr>
            <a:r>
              <a:rPr lang="en-US" dirty="0"/>
              <a:t>Storytelling with Data — Capstone Project</a:t>
            </a:r>
          </a:p>
        </p:txBody>
      </p:sp>
      <p:sp>
        <p:nvSpPr>
          <p:cNvPr id="3" name="TextBox 2">
            <a:extLst>
              <a:ext uri="{FF2B5EF4-FFF2-40B4-BE49-F238E27FC236}">
                <a16:creationId xmlns:a16="http://schemas.microsoft.com/office/drawing/2014/main" id="{005923B0-178E-C8D2-DD56-803D993FC02A}"/>
              </a:ext>
            </a:extLst>
          </p:cNvPr>
          <p:cNvSpPr txBox="1"/>
          <p:nvPr/>
        </p:nvSpPr>
        <p:spPr>
          <a:xfrm>
            <a:off x="13665200" y="4048760"/>
            <a:ext cx="9271000"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0">
            <a:scrgbClr r="0" g="0" b="0"/>
          </a:lnRef>
          <a:fillRef idx="0">
            <a:scrgbClr r="0" g="0" b="0"/>
          </a:fillRef>
          <a:effectRef idx="0">
            <a:scrgbClr r="0" g="0" b="0"/>
          </a:effectRef>
          <a:fontRef idx="none"/>
        </p:style>
        <p:txBody>
          <a:bodyPr rot="0" spcFirstLastPara="1" vertOverflow="overflow" horzOverflow="overflow" vert="horz" lIns="50800" tIns="50800" rIns="50800" bIns="50800" numCol="1" spcCol="38100" rtlCol="0" anchor="ctr">
            <a:noAutofit/>
          </a:bodyPr>
          <a:lstStyle/>
          <a:p>
            <a:pPr defTabSz="685800" fontAlgn="auto" hangingPunct="0">
              <a:spcBef>
                <a:spcPts val="0"/>
              </a:spcBef>
              <a:spcAft>
                <a:spcPts val="600"/>
              </a:spcAft>
              <a:tabLst/>
            </a:pPr>
            <a:r>
              <a:rPr kumimoji="0" lang="en-US" sz="1600" b="1" i="0" u="none" strike="noStrike" cap="all" spc="0" normalizeH="0" baseline="0" dirty="0">
                <a:ln>
                  <a:noFill/>
                </a:ln>
                <a:solidFill>
                  <a:srgbClr val="227AAF"/>
                </a:solidFill>
                <a:effectLst/>
                <a:uFillTx/>
              </a:rPr>
              <a:t>Tengis </a:t>
            </a:r>
            <a:r>
              <a:rPr kumimoji="0" lang="en-US" sz="1600" b="1" i="0" u="none" strike="noStrike" cap="all" spc="0" normalizeH="0" baseline="0" dirty="0" err="1">
                <a:ln>
                  <a:noFill/>
                </a:ln>
                <a:solidFill>
                  <a:srgbClr val="227AAF"/>
                </a:solidFill>
                <a:effectLst/>
                <a:uFillTx/>
              </a:rPr>
              <a:t>Erkhiimergen</a:t>
            </a:r>
            <a:endParaRPr kumimoji="0" lang="en-US" sz="1600" b="1" i="0" u="none" strike="noStrike" cap="all" spc="0" normalizeH="0" baseline="0" dirty="0">
              <a:ln>
                <a:noFill/>
              </a:ln>
              <a:solidFill>
                <a:srgbClr val="227AAF"/>
              </a:solidFill>
              <a:effectLst/>
              <a:uFillTx/>
            </a:endParaRPr>
          </a:p>
          <a:p>
            <a:pPr defTabSz="685800">
              <a:spcBef>
                <a:spcPts val="0"/>
              </a:spcBef>
              <a:spcAft>
                <a:spcPts val="600"/>
              </a:spcAft>
              <a:tabLst/>
            </a:pPr>
            <a:r>
              <a:rPr lang="en-US" sz="1600" b="1" i="0" u="none" strike="noStrike" cap="all" spc="0" baseline="0" dirty="0">
                <a:solidFill>
                  <a:srgbClr val="227AAF"/>
                </a:solidFill>
                <a:uFillTx/>
              </a:rPr>
              <a:t>Date: October 27, 2025</a:t>
            </a:r>
          </a:p>
        </p:txBody>
      </p:sp>
      <p:pic>
        <p:nvPicPr>
          <p:cNvPr id="1026" name="Picture 2" descr="How Mapping Shots In The NBA Changed It Forever | FiveThirtyEight">
            <a:extLst>
              <a:ext uri="{FF2B5EF4-FFF2-40B4-BE49-F238E27FC236}">
                <a16:creationId xmlns:a16="http://schemas.microsoft.com/office/drawing/2014/main" id="{21B9CF48-A01A-F57B-12DB-2E58597B8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 y="1191260"/>
            <a:ext cx="12539169" cy="11333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Agenda"/>
          <p:cNvSpPr txBox="1">
            <a:spLocks noGrp="1"/>
          </p:cNvSpPr>
          <p:nvPr>
            <p:ph type="title"/>
          </p:nvPr>
        </p:nvSpPr>
        <p:spPr>
          <a:prstGeom prst="rect">
            <a:avLst/>
          </a:prstGeom>
        </p:spPr>
        <p:txBody>
          <a:bodyPr/>
          <a:lstStyle/>
          <a:p>
            <a:r>
              <a:rPr dirty="0"/>
              <a:t>Agenda</a:t>
            </a:r>
          </a:p>
        </p:txBody>
      </p:sp>
      <p:sp>
        <p:nvSpPr>
          <p:cNvPr id="195" name="Introduction…"/>
          <p:cNvSpPr txBox="1">
            <a:spLocks noGrp="1"/>
          </p:cNvSpPr>
          <p:nvPr>
            <p:ph type="body" sz="half" idx="1"/>
          </p:nvPr>
        </p:nvSpPr>
        <p:spPr>
          <a:xfrm>
            <a:off x="3219185" y="4112666"/>
            <a:ext cx="16647250" cy="6165851"/>
          </a:xfrm>
          <a:prstGeom prst="rect">
            <a:avLst/>
          </a:prstGeom>
        </p:spPr>
        <p:txBody>
          <a:bodyPr spcCol="832362"/>
          <a:lstStyle/>
          <a:p>
            <a:r>
              <a:rPr lang="en-US" dirty="0"/>
              <a:t>Introduction</a:t>
            </a:r>
          </a:p>
          <a:p>
            <a:r>
              <a:rPr lang="en-US" dirty="0"/>
              <a:t>Objective</a:t>
            </a:r>
          </a:p>
          <a:p>
            <a:r>
              <a:rPr lang="en-US" dirty="0"/>
              <a:t>Methodology</a:t>
            </a:r>
          </a:p>
          <a:p>
            <a:r>
              <a:rPr lang="en-US" dirty="0"/>
              <a:t>Analysis &amp; Findings</a:t>
            </a:r>
          </a:p>
          <a:p>
            <a:r>
              <a:rPr lang="en-US" dirty="0"/>
              <a:t>Visual Insights</a:t>
            </a:r>
          </a:p>
          <a:p>
            <a:r>
              <a:rPr lang="en-US" dirty="0"/>
              <a:t>Conclusion &amp; Recommendations</a:t>
            </a:r>
          </a:p>
          <a:p>
            <a:r>
              <a:rPr lang="en-US" dirty="0"/>
              <a:t>Q&amp;A</a:t>
            </a:r>
          </a:p>
        </p:txBody>
      </p:sp>
      <p:pic>
        <p:nvPicPr>
          <p:cNvPr id="6150" name="Picture 6" descr="BallR: Interactive NBA Shot Charts with R and Shiny - Todd W. Schneider">
            <a:extLst>
              <a:ext uri="{FF2B5EF4-FFF2-40B4-BE49-F238E27FC236}">
                <a16:creationId xmlns:a16="http://schemas.microsoft.com/office/drawing/2014/main" id="{D255427F-C601-AA1C-ECF0-276D4EBD5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3445" y="2963894"/>
            <a:ext cx="7724065" cy="73146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ntroduction"/>
          <p:cNvSpPr txBox="1">
            <a:spLocks noGrp="1"/>
          </p:cNvSpPr>
          <p:nvPr>
            <p:ph type="title"/>
          </p:nvPr>
        </p:nvSpPr>
        <p:spPr>
          <a:prstGeom prst="rect">
            <a:avLst/>
          </a:prstGeom>
        </p:spPr>
        <p:txBody>
          <a:bodyPr/>
          <a:lstStyle/>
          <a:p>
            <a:r>
              <a:rPr dirty="0"/>
              <a:t>Introduction</a:t>
            </a:r>
          </a:p>
        </p:txBody>
      </p:sp>
      <p:sp>
        <p:nvSpPr>
          <p:cNvPr id="3" name="TextBox 2">
            <a:extLst>
              <a:ext uri="{FF2B5EF4-FFF2-40B4-BE49-F238E27FC236}">
                <a16:creationId xmlns:a16="http://schemas.microsoft.com/office/drawing/2014/main" id="{6B78A442-1C98-464D-B6C5-3FBA0B448AA4}"/>
              </a:ext>
            </a:extLst>
          </p:cNvPr>
          <p:cNvSpPr txBox="1"/>
          <p:nvPr/>
        </p:nvSpPr>
        <p:spPr>
          <a:xfrm>
            <a:off x="1727201" y="3999781"/>
            <a:ext cx="20929599" cy="5716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0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 pos="4891088" algn="l"/>
              </a:tabLst>
            </a:pPr>
            <a:r>
              <a:rPr lang="en-US" b="1" dirty="0"/>
              <a:t>Who I Am:</a:t>
            </a:r>
            <a:r>
              <a:rPr lang="en-US" dirty="0"/>
              <a:t> Tengis </a:t>
            </a:r>
            <a:r>
              <a:rPr lang="en-US" dirty="0" err="1"/>
              <a:t>Erkhiimergen</a:t>
            </a:r>
            <a:r>
              <a:rPr lang="en-US" dirty="0"/>
              <a:t> — passionate about data analytics and technology</a:t>
            </a:r>
          </a:p>
          <a:p>
            <a:pPr>
              <a:lnSpc>
                <a:spcPct val="100000"/>
              </a:lnSpc>
            </a:pPr>
            <a:r>
              <a:rPr lang="en-US" b="1" dirty="0"/>
              <a:t>Background</a:t>
            </a:r>
            <a:r>
              <a:rPr lang="en-US" dirty="0"/>
              <a:t>: Data enthusiast with experience in analyzing real-world datasets using Python and visualization tools</a:t>
            </a:r>
          </a:p>
          <a:p>
            <a:pPr>
              <a:lnSpc>
                <a:spcPct val="100000"/>
              </a:lnSpc>
            </a:pPr>
            <a:r>
              <a:rPr lang="en-US" b="1" dirty="0"/>
              <a:t>Education:</a:t>
            </a:r>
            <a:r>
              <a:rPr lang="en-US" dirty="0"/>
              <a:t> Focused on data analytics and applied statistics projects</a:t>
            </a:r>
          </a:p>
          <a:p>
            <a:pPr>
              <a:lnSpc>
                <a:spcPct val="100000"/>
              </a:lnSpc>
            </a:pPr>
            <a:r>
              <a:rPr lang="en-US" b="1" dirty="0"/>
              <a:t>Project Focus:</a:t>
            </a:r>
            <a:r>
              <a:rPr lang="en-US" dirty="0"/>
              <a:t> Analyzing NBA game data to uncover home court advantage and scoring patterns</a:t>
            </a:r>
          </a:p>
          <a:p>
            <a:pPr>
              <a:lnSpc>
                <a:spcPct val="100000"/>
              </a:lnSpc>
            </a:pPr>
            <a:r>
              <a:rPr lang="en-US" b="1" dirty="0"/>
              <a:t>Fun Fact:</a:t>
            </a:r>
            <a:r>
              <a:rPr lang="en-US" dirty="0"/>
              <a:t> I love basketball and enjoy exploring how data connects with real game performance</a:t>
            </a:r>
          </a:p>
          <a:p>
            <a:pPr marL="0" marR="0" indent="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sz="3600" b="0" i="0" u="none" strike="noStrike" cap="none" spc="0" normalizeH="0" baseline="0" dirty="0">
              <a:ln>
                <a:noFill/>
              </a:ln>
              <a:solidFill>
                <a:srgbClr val="4A4A4A"/>
              </a:solidFill>
              <a:effectLst/>
              <a:uFillTx/>
              <a:latin typeface="Avenir Next Medium"/>
              <a:ea typeface="Avenir Next Medium"/>
              <a:cs typeface="Avenir Next Medium"/>
              <a:sym typeface="Avenir Next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Objective"/>
          <p:cNvSpPr txBox="1">
            <a:spLocks noGrp="1"/>
          </p:cNvSpPr>
          <p:nvPr>
            <p:ph type="title"/>
          </p:nvPr>
        </p:nvSpPr>
        <p:spPr>
          <a:xfrm>
            <a:off x="-1992084" y="1864603"/>
            <a:ext cx="20929600" cy="3225356"/>
          </a:xfrm>
          <a:prstGeom prst="rect">
            <a:avLst/>
          </a:prstGeom>
        </p:spPr>
        <p:txBody>
          <a:bodyPr/>
          <a:lstStyle/>
          <a:p>
            <a:r>
              <a:rPr dirty="0"/>
              <a:t>Objective</a:t>
            </a:r>
          </a:p>
        </p:txBody>
      </p:sp>
      <p:sp>
        <p:nvSpPr>
          <p:cNvPr id="8" name="TextBox 7">
            <a:extLst>
              <a:ext uri="{FF2B5EF4-FFF2-40B4-BE49-F238E27FC236}">
                <a16:creationId xmlns:a16="http://schemas.microsoft.com/office/drawing/2014/main" id="{E83F3915-4C67-2B03-1382-C3EBE8FCF91F}"/>
              </a:ext>
            </a:extLst>
          </p:cNvPr>
          <p:cNvSpPr txBox="1"/>
          <p:nvPr/>
        </p:nvSpPr>
        <p:spPr>
          <a:xfrm>
            <a:off x="1727202" y="3544274"/>
            <a:ext cx="13491028" cy="66274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nSpc>
                <a:spcPct val="100000"/>
              </a:lnSpc>
            </a:pPr>
            <a:r>
              <a:rPr lang="en-US" b="1" dirty="0"/>
              <a:t>Goal of the project:</a:t>
            </a:r>
          </a:p>
          <a:p>
            <a:pPr marL="571500" indent="-571500">
              <a:lnSpc>
                <a:spcPct val="100000"/>
              </a:lnSpc>
              <a:buFont typeface="Arial" panose="020B0604020202020204" pitchFamily="34" charset="0"/>
              <a:buChar char="•"/>
            </a:pPr>
            <a:r>
              <a:rPr lang="en-US" dirty="0"/>
              <a:t>To analyze NBA game performance data to understand whether home court advantage significantly affects game outcomes and scoring trends.</a:t>
            </a:r>
          </a:p>
          <a:p>
            <a:pPr>
              <a:lnSpc>
                <a:spcPct val="100000"/>
              </a:lnSpc>
            </a:pPr>
            <a:endParaRPr lang="en-US" dirty="0"/>
          </a:p>
          <a:p>
            <a:pPr>
              <a:lnSpc>
                <a:spcPct val="100000"/>
              </a:lnSpc>
            </a:pPr>
            <a:r>
              <a:rPr lang="en-US" b="1" dirty="0"/>
              <a:t>Problem trying to solve:</a:t>
            </a:r>
          </a:p>
          <a:p>
            <a:pPr marL="571500" lvl="4" indent="-571500">
              <a:lnSpc>
                <a:spcPct val="100000"/>
              </a:lnSpc>
              <a:buFont typeface="Arial" panose="020B0604020202020204" pitchFamily="34" charset="0"/>
              <a:buChar char="•"/>
            </a:pPr>
            <a:r>
              <a:rPr lang="en-US" dirty="0"/>
              <a:t>Many assume playing at home boosts team performance, but this study tests that statistically while exploring how total points have evolved across seasons.</a:t>
            </a:r>
          </a:p>
        </p:txBody>
      </p:sp>
      <p:pic>
        <p:nvPicPr>
          <p:cNvPr id="2050" name="Picture 2" descr="Machine Learning Uncovers Nine Distinct Player Types in the NBA">
            <a:extLst>
              <a:ext uri="{FF2B5EF4-FFF2-40B4-BE49-F238E27FC236}">
                <a16:creationId xmlns:a16="http://schemas.microsoft.com/office/drawing/2014/main" id="{800FFB08-BA7E-E98B-7DAB-D0BDABB1F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8230" y="1121859"/>
            <a:ext cx="8648700" cy="11472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Methodology"/>
          <p:cNvSpPr txBox="1">
            <a:spLocks noGrp="1"/>
          </p:cNvSpPr>
          <p:nvPr>
            <p:ph type="title"/>
          </p:nvPr>
        </p:nvSpPr>
        <p:spPr>
          <a:prstGeom prst="rect">
            <a:avLst/>
          </a:prstGeom>
        </p:spPr>
        <p:txBody>
          <a:bodyPr/>
          <a:lstStyle/>
          <a:p>
            <a:r>
              <a:rPr dirty="0"/>
              <a:t>Methodology</a:t>
            </a:r>
          </a:p>
        </p:txBody>
      </p:sp>
      <p:sp>
        <p:nvSpPr>
          <p:cNvPr id="5" name="TextBox 4">
            <a:extLst>
              <a:ext uri="{FF2B5EF4-FFF2-40B4-BE49-F238E27FC236}">
                <a16:creationId xmlns:a16="http://schemas.microsoft.com/office/drawing/2014/main" id="{551FCA36-CD5D-7E66-C755-05DEF1A2FCB7}"/>
              </a:ext>
            </a:extLst>
          </p:cNvPr>
          <p:cNvSpPr txBox="1"/>
          <p:nvPr/>
        </p:nvSpPr>
        <p:spPr>
          <a:xfrm>
            <a:off x="1727201" y="3643564"/>
            <a:ext cx="10464799" cy="76171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114000"/>
              </a:lnSpc>
            </a:pPr>
            <a:r>
              <a:rPr lang="en-US" sz="3200" b="1" dirty="0"/>
              <a:t>Dataset:</a:t>
            </a:r>
          </a:p>
          <a:p>
            <a:pPr marL="571500" indent="-571500">
              <a:lnSpc>
                <a:spcPct val="114000"/>
              </a:lnSpc>
              <a:buFont typeface="Arial" panose="020B0604020202020204" pitchFamily="34" charset="0"/>
              <a:buChar char="•"/>
            </a:pPr>
            <a:r>
              <a:rPr lang="en-US" sz="3200" dirty="0"/>
              <a:t>NBA Games Dataset (2002–2022)</a:t>
            </a:r>
          </a:p>
          <a:p>
            <a:pPr>
              <a:lnSpc>
                <a:spcPct val="114000"/>
              </a:lnSpc>
            </a:pPr>
            <a:r>
              <a:rPr lang="en-US" sz="3200" b="1" dirty="0"/>
              <a:t>Source:</a:t>
            </a:r>
          </a:p>
          <a:p>
            <a:pPr marL="571500" indent="-571500">
              <a:lnSpc>
                <a:spcPct val="114000"/>
              </a:lnSpc>
              <a:buFont typeface="Arial" panose="020B0604020202020204" pitchFamily="34" charset="0"/>
              <a:buChar char="•"/>
            </a:pPr>
            <a:r>
              <a:rPr lang="en-US" sz="3200" dirty="0"/>
              <a:t>Kaggle – NBA Game Statistics</a:t>
            </a:r>
          </a:p>
          <a:p>
            <a:pPr>
              <a:lnSpc>
                <a:spcPct val="114000"/>
              </a:lnSpc>
            </a:pPr>
            <a:r>
              <a:rPr lang="en-US" sz="3200" b="1" dirty="0"/>
              <a:t>Size:</a:t>
            </a:r>
          </a:p>
          <a:p>
            <a:pPr marL="571500" indent="-571500">
              <a:lnSpc>
                <a:spcPct val="114000"/>
              </a:lnSpc>
              <a:buFont typeface="Arial" panose="020B0604020202020204" pitchFamily="34" charset="0"/>
              <a:buChar char="•"/>
            </a:pPr>
            <a:r>
              <a:rPr lang="en-US" sz="3200" dirty="0"/>
              <a:t>~26,651 rows × 28 columns</a:t>
            </a:r>
          </a:p>
          <a:p>
            <a:pPr>
              <a:lnSpc>
                <a:spcPct val="114000"/>
              </a:lnSpc>
            </a:pPr>
            <a:r>
              <a:rPr lang="en-US" sz="3200" b="1" dirty="0"/>
              <a:t>Tools Used:</a:t>
            </a:r>
          </a:p>
          <a:p>
            <a:pPr marL="571500" indent="-571500">
              <a:lnSpc>
                <a:spcPct val="114000"/>
              </a:lnSpc>
              <a:buFont typeface="Arial" panose="020B0604020202020204" pitchFamily="34" charset="0"/>
              <a:buChar char="•"/>
            </a:pPr>
            <a:r>
              <a:rPr lang="en-US" sz="3200" dirty="0"/>
              <a:t>Python (</a:t>
            </a:r>
            <a:r>
              <a:rPr lang="en-US" sz="3200" dirty="0" err="1"/>
              <a:t>Jupyter</a:t>
            </a:r>
            <a:r>
              <a:rPr lang="en-US" sz="3200" dirty="0"/>
              <a:t> Notebook), pandas, matplotlib, </a:t>
            </a:r>
            <a:r>
              <a:rPr lang="en-US" sz="3200" dirty="0" err="1"/>
              <a:t>scipy</a:t>
            </a:r>
            <a:endParaRPr lang="en-US" sz="3200" dirty="0"/>
          </a:p>
        </p:txBody>
      </p:sp>
      <p:sp>
        <p:nvSpPr>
          <p:cNvPr id="9" name="TextBox 8">
            <a:extLst>
              <a:ext uri="{FF2B5EF4-FFF2-40B4-BE49-F238E27FC236}">
                <a16:creationId xmlns:a16="http://schemas.microsoft.com/office/drawing/2014/main" id="{5F40250C-B6B1-165A-1BC7-255BE1427675}"/>
              </a:ext>
            </a:extLst>
          </p:cNvPr>
          <p:cNvSpPr txBox="1"/>
          <p:nvPr/>
        </p:nvSpPr>
        <p:spPr>
          <a:xfrm>
            <a:off x="12948653" y="3643564"/>
            <a:ext cx="10464799" cy="87398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114000"/>
              </a:lnSpc>
            </a:pPr>
            <a:r>
              <a:rPr lang="en-US" sz="3200" b="1" dirty="0"/>
              <a:t>Data Quality Checks:</a:t>
            </a:r>
          </a:p>
          <a:p>
            <a:pPr marL="571500" indent="-571500">
              <a:lnSpc>
                <a:spcPct val="114000"/>
              </a:lnSpc>
              <a:buFont typeface="Arial" panose="020B0604020202020204" pitchFamily="34" charset="0"/>
              <a:buChar char="•"/>
            </a:pPr>
            <a:r>
              <a:rPr lang="en-US" sz="3200" dirty="0"/>
              <a:t>Removed missing or inconsistent values</a:t>
            </a:r>
          </a:p>
          <a:p>
            <a:pPr marL="571500" indent="-571500">
              <a:lnSpc>
                <a:spcPct val="114000"/>
              </a:lnSpc>
              <a:buFont typeface="Arial" panose="020B0604020202020204" pitchFamily="34" charset="0"/>
              <a:buChar char="•"/>
            </a:pPr>
            <a:r>
              <a:rPr lang="en-US" sz="3200" dirty="0"/>
              <a:t>Verified numeric data types for analysis</a:t>
            </a:r>
          </a:p>
          <a:p>
            <a:pPr marL="571500" indent="-571500">
              <a:lnSpc>
                <a:spcPct val="114000"/>
              </a:lnSpc>
              <a:buFont typeface="Arial" panose="020B0604020202020204" pitchFamily="34" charset="0"/>
              <a:buChar char="•"/>
            </a:pPr>
            <a:r>
              <a:rPr lang="en-US" sz="3200" dirty="0"/>
              <a:t>Standardized date and season columns</a:t>
            </a:r>
          </a:p>
          <a:p>
            <a:pPr>
              <a:lnSpc>
                <a:spcPct val="114000"/>
              </a:lnSpc>
            </a:pPr>
            <a:r>
              <a:rPr lang="en-US" sz="3200" b="1" dirty="0"/>
              <a:t>Statistical Tests Applied:</a:t>
            </a:r>
          </a:p>
          <a:p>
            <a:pPr marL="571500" indent="-571500">
              <a:lnSpc>
                <a:spcPct val="114000"/>
              </a:lnSpc>
              <a:buFont typeface="Arial" panose="020B0604020202020204" pitchFamily="34" charset="0"/>
              <a:buChar char="•"/>
            </a:pPr>
            <a:r>
              <a:rPr lang="en-US" sz="3200" dirty="0"/>
              <a:t>One-sample t-test – tested if average point difference &gt; 0 (home advantage)</a:t>
            </a:r>
          </a:p>
          <a:p>
            <a:pPr marL="571500" indent="-571500">
              <a:lnSpc>
                <a:spcPct val="114000"/>
              </a:lnSpc>
              <a:buFont typeface="Arial" panose="020B0604020202020204" pitchFamily="34" charset="0"/>
              <a:buChar char="•"/>
            </a:pPr>
            <a:r>
              <a:rPr lang="en-US" sz="3200" dirty="0"/>
              <a:t>Two-sample t-test – compared home vs. away team points</a:t>
            </a:r>
          </a:p>
          <a:p>
            <a:pPr marL="571500" indent="-571500">
              <a:lnSpc>
                <a:spcPct val="114000"/>
              </a:lnSpc>
              <a:buFont typeface="Arial" panose="020B0604020202020204" pitchFamily="34" charset="0"/>
              <a:buChar char="•"/>
            </a:pPr>
            <a:r>
              <a:rPr lang="en-US" sz="3200" dirty="0"/>
              <a:t>One-way ANOVA – analyzed scoring trends across seasons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Download All set for season 69 of the National Basketball Association  Wallpaper | Wallpapers.com">
            <a:extLst>
              <a:ext uri="{FF2B5EF4-FFF2-40B4-BE49-F238E27FC236}">
                <a16:creationId xmlns:a16="http://schemas.microsoft.com/office/drawing/2014/main" id="{0ADB814E-D072-603A-D622-BF5310B1F64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24384000" cy="137160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12" name="Analysis"/>
          <p:cNvSpPr txBox="1">
            <a:spLocks noGrp="1"/>
          </p:cNvSpPr>
          <p:nvPr>
            <p:ph type="body" sz="quarter" idx="1"/>
          </p:nvPr>
        </p:nvSpPr>
        <p:spPr>
          <a:xfrm>
            <a:off x="1409700" y="2119884"/>
            <a:ext cx="10775585" cy="1936416"/>
          </a:xfrm>
        </p:spPr>
        <p:txBody>
          <a:bodyPr lIns="88900" tIns="88900" rIns="88900" bIns="88900">
            <a:normAutofit/>
          </a:bodyPr>
          <a:lstStyle/>
          <a:p>
            <a:pPr defTabSz="543305">
              <a:defRPr sz="7998" spc="-79"/>
            </a:pPr>
            <a:r>
              <a:rPr lang="en-US" dirty="0">
                <a:solidFill>
                  <a:schemeClr val="bg1"/>
                </a:solidFill>
              </a:rPr>
              <a:t>Analysis</a:t>
            </a:r>
          </a:p>
          <a:p>
            <a:pPr defTabSz="425195">
              <a:spcBef>
                <a:spcPts val="1100"/>
              </a:spcBef>
              <a:defRPr sz="1302" spc="0">
                <a:solidFill>
                  <a:srgbClr val="000000"/>
                </a:solidFill>
                <a:latin typeface="Helvetica Neue"/>
                <a:ea typeface="Helvetica Neue"/>
                <a:cs typeface="Helvetica Neue"/>
                <a:sym typeface="Helvetica Neue"/>
              </a:defRPr>
            </a:pPr>
            <a:endParaRPr lang="en-US" dirty="0"/>
          </a:p>
        </p:txBody>
      </p:sp>
      <p:sp>
        <p:nvSpPr>
          <p:cNvPr id="3079" name="Text Placeholder 3">
            <a:extLst>
              <a:ext uri="{FF2B5EF4-FFF2-40B4-BE49-F238E27FC236}">
                <a16:creationId xmlns:a16="http://schemas.microsoft.com/office/drawing/2014/main" id="{30EC9471-7759-2E35-564A-3A8B25ADBD2F}"/>
              </a:ext>
            </a:extLst>
          </p:cNvPr>
          <p:cNvSpPr>
            <a:spLocks noGrp="1"/>
          </p:cNvSpPr>
          <p:nvPr>
            <p:ph type="body" sz="quarter" idx="22"/>
          </p:nvPr>
        </p:nvSpPr>
        <p:spPr>
          <a:xfrm>
            <a:off x="1409700" y="4051453"/>
            <a:ext cx="10775585" cy="6104918"/>
          </a:xfrm>
        </p:spPr>
        <p:txBody>
          <a:bodyPr anchor="ctr">
            <a:noAutofit/>
          </a:bodyPr>
          <a:lstStyle/>
          <a:p>
            <a:pPr>
              <a:spcAft>
                <a:spcPts val="600"/>
              </a:spcAft>
            </a:pPr>
            <a:r>
              <a:rPr lang="en-US" sz="2800" dirty="0">
                <a:solidFill>
                  <a:schemeClr val="bg1"/>
                </a:solidFill>
              </a:rPr>
              <a:t>This analysis explores NBA game performance from 2002 to 2022, focusing on scoring patterns and home-court advantage. Statistical tests, including t-tests and ANOVA, were applied to compare home vs. away points and evaluate seasonal trends. The results show that home teams consistently score higher, confirming a measurable home-court advantage, while overall scoring has increased over the years due to faster-paced, offense-driven play styles.</a:t>
            </a:r>
          </a:p>
          <a:p>
            <a:pPr>
              <a:spcAft>
                <a:spcPts val="600"/>
              </a:spcAft>
            </a:pPr>
            <a:endParaRPr lang="en-US" sz="2800" dirty="0">
              <a:solidFill>
                <a:schemeClr val="bg1"/>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78EFE-64A5-0513-A4A5-548DD09E590D}"/>
            </a:ext>
          </a:extLst>
        </p:cNvPr>
        <p:cNvGrpSpPr/>
        <p:nvPr/>
      </p:nvGrpSpPr>
      <p:grpSpPr>
        <a:xfrm>
          <a:off x="0" y="0"/>
          <a:ext cx="0" cy="0"/>
          <a:chOff x="0" y="0"/>
          <a:chExt cx="0" cy="0"/>
        </a:xfrm>
      </p:grpSpPr>
      <p:sp>
        <p:nvSpPr>
          <p:cNvPr id="209" name="Methodology">
            <a:extLst>
              <a:ext uri="{FF2B5EF4-FFF2-40B4-BE49-F238E27FC236}">
                <a16:creationId xmlns:a16="http://schemas.microsoft.com/office/drawing/2014/main" id="{649A5EBB-FA81-AD63-231F-ACC4EB822F52}"/>
              </a:ext>
            </a:extLst>
          </p:cNvPr>
          <p:cNvSpPr txBox="1">
            <a:spLocks noGrp="1"/>
          </p:cNvSpPr>
          <p:nvPr>
            <p:ph type="title"/>
          </p:nvPr>
        </p:nvSpPr>
        <p:spPr>
          <a:xfrm>
            <a:off x="1727200" y="1739900"/>
            <a:ext cx="20929600" cy="1323504"/>
          </a:xfrm>
          <a:prstGeom prst="rect">
            <a:avLst/>
          </a:prstGeom>
        </p:spPr>
        <p:txBody>
          <a:bodyPr/>
          <a:lstStyle/>
          <a:p>
            <a:r>
              <a:rPr lang="en-US" b="1" dirty="0"/>
              <a:t>Statistical Validation</a:t>
            </a:r>
          </a:p>
        </p:txBody>
      </p:sp>
      <p:sp>
        <p:nvSpPr>
          <p:cNvPr id="5" name="TextBox 4">
            <a:extLst>
              <a:ext uri="{FF2B5EF4-FFF2-40B4-BE49-F238E27FC236}">
                <a16:creationId xmlns:a16="http://schemas.microsoft.com/office/drawing/2014/main" id="{CC9A96E6-2461-CD64-F4DC-E655D4AA4EB6}"/>
              </a:ext>
            </a:extLst>
          </p:cNvPr>
          <p:cNvSpPr txBox="1"/>
          <p:nvPr/>
        </p:nvSpPr>
        <p:spPr>
          <a:xfrm>
            <a:off x="1727200" y="2769489"/>
            <a:ext cx="20929599" cy="9836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114000"/>
              </a:lnSpc>
            </a:pPr>
            <a:r>
              <a:rPr lang="en-US" dirty="0"/>
              <a:t>To support the analysis, three statistical tests were conducted:</a:t>
            </a:r>
          </a:p>
          <a:p>
            <a:pPr>
              <a:lnSpc>
                <a:spcPct val="114000"/>
              </a:lnSpc>
            </a:pPr>
            <a:r>
              <a:rPr lang="en-US" b="1" dirty="0"/>
              <a:t>Two-Sample t-Test (Home vs Away Points):</a:t>
            </a:r>
          </a:p>
          <a:p>
            <a:pPr>
              <a:lnSpc>
                <a:spcPct val="114000"/>
              </a:lnSpc>
            </a:pPr>
            <a:r>
              <a:rPr lang="en-US" dirty="0"/>
              <a:t>The p-value was less than 0.05, indicating a significant difference between home and away team scores. This confirms that home teams consistently perform better, showing a clear home-court advantage.</a:t>
            </a:r>
          </a:p>
          <a:p>
            <a:pPr>
              <a:lnSpc>
                <a:spcPct val="114000"/>
              </a:lnSpc>
            </a:pPr>
            <a:r>
              <a:rPr lang="en-US" b="1" dirty="0"/>
              <a:t>One-Way ANOVA (Monthly Scoring Differences):</a:t>
            </a:r>
          </a:p>
          <a:p>
            <a:pPr>
              <a:lnSpc>
                <a:spcPct val="114000"/>
              </a:lnSpc>
            </a:pPr>
            <a:r>
              <a:rPr lang="en-US" dirty="0"/>
              <a:t>The p-value was greater than 0.05, meaning there was no significant difference in scoring between months. This shows that team performance remains consistent throughout the season.</a:t>
            </a:r>
          </a:p>
          <a:p>
            <a:pPr>
              <a:lnSpc>
                <a:spcPct val="114000"/>
              </a:lnSpc>
            </a:pPr>
            <a:r>
              <a:rPr lang="en-US" b="1" dirty="0"/>
              <a:t>Linear Regression (Scoring Over Time):</a:t>
            </a:r>
          </a:p>
          <a:p>
            <a:pPr>
              <a:lnSpc>
                <a:spcPct val="114000"/>
              </a:lnSpc>
            </a:pPr>
            <a:r>
              <a:rPr lang="en-US" dirty="0"/>
              <a:t>The regression showed a strong positive correlation (R² = 0.78) between year and total points per game. This confirms that NBA scoring has steadily increased since 2012, reflecting a shift toward faster-paced and offense-focused gameplay.</a:t>
            </a:r>
          </a:p>
        </p:txBody>
      </p:sp>
    </p:spTree>
    <p:extLst>
      <p:ext uri="{BB962C8B-B14F-4D97-AF65-F5344CB8AC3E}">
        <p14:creationId xmlns:p14="http://schemas.microsoft.com/office/powerpoint/2010/main" val="33653362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602A3-EA6D-D3C9-A125-56DB71C3DCDA}"/>
            </a:ext>
          </a:extLst>
        </p:cNvPr>
        <p:cNvGrpSpPr/>
        <p:nvPr/>
      </p:nvGrpSpPr>
      <p:grpSpPr>
        <a:xfrm>
          <a:off x="0" y="0"/>
          <a:ext cx="0" cy="0"/>
          <a:chOff x="0" y="0"/>
          <a:chExt cx="0" cy="0"/>
        </a:xfrm>
      </p:grpSpPr>
      <p:sp>
        <p:nvSpPr>
          <p:cNvPr id="209" name="Methodology">
            <a:extLst>
              <a:ext uri="{FF2B5EF4-FFF2-40B4-BE49-F238E27FC236}">
                <a16:creationId xmlns:a16="http://schemas.microsoft.com/office/drawing/2014/main" id="{CCBDC309-EEF0-6867-94BB-A2CDAE7CF2EC}"/>
              </a:ext>
            </a:extLst>
          </p:cNvPr>
          <p:cNvSpPr txBox="1">
            <a:spLocks noGrp="1"/>
          </p:cNvSpPr>
          <p:nvPr>
            <p:ph type="title"/>
          </p:nvPr>
        </p:nvSpPr>
        <p:spPr>
          <a:xfrm>
            <a:off x="1727200" y="1739900"/>
            <a:ext cx="20929600" cy="1323504"/>
          </a:xfrm>
          <a:prstGeom prst="rect">
            <a:avLst/>
          </a:prstGeom>
        </p:spPr>
        <p:txBody>
          <a:bodyPr/>
          <a:lstStyle/>
          <a:p>
            <a:r>
              <a:rPr lang="en-US" b="1" dirty="0"/>
              <a:t>Statistical Validation</a:t>
            </a:r>
          </a:p>
        </p:txBody>
      </p:sp>
      <p:sp>
        <p:nvSpPr>
          <p:cNvPr id="5" name="TextBox 4">
            <a:extLst>
              <a:ext uri="{FF2B5EF4-FFF2-40B4-BE49-F238E27FC236}">
                <a16:creationId xmlns:a16="http://schemas.microsoft.com/office/drawing/2014/main" id="{E69DB530-C537-B7AE-F41D-B088CFDF4283}"/>
              </a:ext>
            </a:extLst>
          </p:cNvPr>
          <p:cNvSpPr txBox="1"/>
          <p:nvPr/>
        </p:nvSpPr>
        <p:spPr>
          <a:xfrm>
            <a:off x="1727200" y="2769489"/>
            <a:ext cx="20929599" cy="9836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a:lnSpc>
                <a:spcPct val="114000"/>
              </a:lnSpc>
            </a:pPr>
            <a:r>
              <a:rPr lang="en-US" dirty="0"/>
              <a:t>To support the analysis, three statistical tests were conducted:</a:t>
            </a:r>
          </a:p>
          <a:p>
            <a:pPr>
              <a:lnSpc>
                <a:spcPct val="114000"/>
              </a:lnSpc>
            </a:pPr>
            <a:r>
              <a:rPr lang="en-US" b="1" dirty="0"/>
              <a:t>Two-Sample t-Test (Home vs Away Points):</a:t>
            </a:r>
          </a:p>
          <a:p>
            <a:pPr>
              <a:lnSpc>
                <a:spcPct val="114000"/>
              </a:lnSpc>
            </a:pPr>
            <a:r>
              <a:rPr lang="en-US" dirty="0"/>
              <a:t>The p-value was less than 0.05, indicating a significant difference between home and away team scores. This confirms that home teams consistently perform better, showing a clear home-court advantage.</a:t>
            </a:r>
          </a:p>
          <a:p>
            <a:pPr>
              <a:lnSpc>
                <a:spcPct val="114000"/>
              </a:lnSpc>
            </a:pPr>
            <a:r>
              <a:rPr lang="en-US" b="1" dirty="0"/>
              <a:t>One-Way ANOVA (Monthly Scoring Differences):</a:t>
            </a:r>
          </a:p>
          <a:p>
            <a:pPr>
              <a:lnSpc>
                <a:spcPct val="114000"/>
              </a:lnSpc>
            </a:pPr>
            <a:r>
              <a:rPr lang="en-US" dirty="0"/>
              <a:t>The p-value was greater than 0.05, meaning there was no significant difference in scoring between months. This shows that team performance remains consistent throughout the season.</a:t>
            </a:r>
          </a:p>
          <a:p>
            <a:pPr>
              <a:lnSpc>
                <a:spcPct val="114000"/>
              </a:lnSpc>
            </a:pPr>
            <a:r>
              <a:rPr lang="en-US" b="1" dirty="0"/>
              <a:t>Linear Regression (Scoring Over Time):</a:t>
            </a:r>
          </a:p>
          <a:p>
            <a:pPr>
              <a:lnSpc>
                <a:spcPct val="114000"/>
              </a:lnSpc>
            </a:pPr>
            <a:r>
              <a:rPr lang="en-US" dirty="0"/>
              <a:t>The regression showed a strong positive correlation (R² = 0.78) between year and total points per game. This confirms that NBA scoring has steadily increased since 2012, reflecting a shift toward faster-paced and offense-focused gameplay.</a:t>
            </a:r>
          </a:p>
        </p:txBody>
      </p:sp>
    </p:spTree>
    <p:extLst>
      <p:ext uri="{BB962C8B-B14F-4D97-AF65-F5344CB8AC3E}">
        <p14:creationId xmlns:p14="http://schemas.microsoft.com/office/powerpoint/2010/main" val="407335131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p:cNvSpPr txBox="1"/>
          <p:nvPr/>
        </p:nvSpPr>
        <p:spPr>
          <a:xfrm>
            <a:off x="14547591" y="3159976"/>
            <a:ext cx="9152130" cy="5443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nSpc>
                <a:spcPct val="114000"/>
              </a:lnSpc>
            </a:pPr>
            <a:endParaRPr dirty="0"/>
          </a:p>
          <a:p>
            <a:pPr>
              <a:lnSpc>
                <a:spcPct val="114000"/>
              </a:lnSpc>
            </a:pPr>
            <a:r>
              <a:rPr lang="en-US" dirty="0"/>
              <a:t>The bar chart shows the </a:t>
            </a:r>
            <a:r>
              <a:rPr lang="en-US" b="1" dirty="0"/>
              <a:t>Top 10 NBA teams by average points per game</a:t>
            </a:r>
            <a:r>
              <a:rPr lang="en-US" dirty="0"/>
              <a:t> from the 2002–2022 dataset.</a:t>
            </a:r>
            <a:br>
              <a:rPr lang="en-US" dirty="0"/>
            </a:br>
            <a:r>
              <a:rPr lang="en-US" dirty="0"/>
              <a:t>Golden State Warriors (GSW), Phoenix Suns (PHX), and Denver Nuggets (DEN) consistently lead in scoring performance, averaging over </a:t>
            </a:r>
            <a:r>
              <a:rPr lang="en-US" b="1" dirty="0"/>
              <a:t>105 points per game</a:t>
            </a:r>
            <a:r>
              <a:rPr lang="en-US" dirty="0"/>
              <a:t>.</a:t>
            </a:r>
            <a:endParaRPr dirty="0"/>
          </a:p>
        </p:txBody>
      </p:sp>
      <p:sp>
        <p:nvSpPr>
          <p:cNvPr id="216" name="Analysis"/>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rPr dirty="0"/>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dirty="0"/>
          </a:p>
        </p:txBody>
      </p:sp>
      <p:pic>
        <p:nvPicPr>
          <p:cNvPr id="3" name="Picture 2">
            <a:extLst>
              <a:ext uri="{FF2B5EF4-FFF2-40B4-BE49-F238E27FC236}">
                <a16:creationId xmlns:a16="http://schemas.microsoft.com/office/drawing/2014/main" id="{BF601D09-CBDB-0B54-3A97-1F464E95D13D}"/>
              </a:ext>
            </a:extLst>
          </p:cNvPr>
          <p:cNvPicPr>
            <a:picLocks noChangeAspect="1"/>
          </p:cNvPicPr>
          <p:nvPr/>
        </p:nvPicPr>
        <p:blipFill>
          <a:blip r:embed="rId3"/>
          <a:stretch>
            <a:fillRect/>
          </a:stretch>
        </p:blipFill>
        <p:spPr>
          <a:xfrm>
            <a:off x="3235036" y="2866985"/>
            <a:ext cx="10234315" cy="6348699"/>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6457-47D4-3752-C642-B03B966FA225}"/>
            </a:ext>
          </a:extLst>
        </p:cNvPr>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a:extLst>
              <a:ext uri="{FF2B5EF4-FFF2-40B4-BE49-F238E27FC236}">
                <a16:creationId xmlns:a16="http://schemas.microsoft.com/office/drawing/2014/main" id="{70DA1C4B-A352-C0E3-89E9-A47BC246FCA3}"/>
              </a:ext>
            </a:extLst>
          </p:cNvPr>
          <p:cNvSpPr txBox="1"/>
          <p:nvPr/>
        </p:nvSpPr>
        <p:spPr>
          <a:xfrm>
            <a:off x="14547591" y="3629655"/>
            <a:ext cx="9152130" cy="45043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14000"/>
              </a:lnSpc>
            </a:pPr>
            <a:r>
              <a:rPr lang="en-US" dirty="0"/>
              <a:t>The line chart shows that average team points have steadily increased over the years, indicating faster-paced games and evolving offensive strategies.</a:t>
            </a:r>
            <a:br>
              <a:rPr lang="en-US" dirty="0"/>
            </a:br>
            <a:r>
              <a:rPr lang="en-US" dirty="0"/>
              <a:t>Peaks in certain seasons suggest rule or playstyle changes that promoted higher scoring.</a:t>
            </a:r>
            <a:endParaRPr dirty="0"/>
          </a:p>
        </p:txBody>
      </p:sp>
      <p:sp>
        <p:nvSpPr>
          <p:cNvPr id="216" name="Analysis">
            <a:extLst>
              <a:ext uri="{FF2B5EF4-FFF2-40B4-BE49-F238E27FC236}">
                <a16:creationId xmlns:a16="http://schemas.microsoft.com/office/drawing/2014/main" id="{A57BA1E4-5175-01EC-5294-05FAC1E4C277}"/>
              </a:ext>
            </a:extLst>
          </p:cNvPr>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a:p>
        </p:txBody>
      </p:sp>
      <p:pic>
        <p:nvPicPr>
          <p:cNvPr id="2" name="Picture 1">
            <a:extLst>
              <a:ext uri="{FF2B5EF4-FFF2-40B4-BE49-F238E27FC236}">
                <a16:creationId xmlns:a16="http://schemas.microsoft.com/office/drawing/2014/main" id="{F51F68B2-3C80-6AE5-3B2B-C01059BD3A27}"/>
              </a:ext>
            </a:extLst>
          </p:cNvPr>
          <p:cNvPicPr>
            <a:picLocks noChangeAspect="1"/>
          </p:cNvPicPr>
          <p:nvPr/>
        </p:nvPicPr>
        <p:blipFill>
          <a:blip r:embed="rId2"/>
          <a:stretch>
            <a:fillRect/>
          </a:stretch>
        </p:blipFill>
        <p:spPr>
          <a:xfrm>
            <a:off x="684279" y="3155198"/>
            <a:ext cx="13246942" cy="5453224"/>
          </a:xfrm>
          <a:prstGeom prst="rect">
            <a:avLst/>
          </a:prstGeom>
        </p:spPr>
      </p:pic>
    </p:spTree>
    <p:extLst>
      <p:ext uri="{BB962C8B-B14F-4D97-AF65-F5344CB8AC3E}">
        <p14:creationId xmlns:p14="http://schemas.microsoft.com/office/powerpoint/2010/main" val="355158466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EBC69-FE20-3CC7-259E-19931897DA32}"/>
            </a:ext>
          </a:extLst>
        </p:cNvPr>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a:extLst>
              <a:ext uri="{FF2B5EF4-FFF2-40B4-BE49-F238E27FC236}">
                <a16:creationId xmlns:a16="http://schemas.microsoft.com/office/drawing/2014/main" id="{24C8E1BA-FF6C-4E83-220B-5EC9B8BBBDF1}"/>
              </a:ext>
            </a:extLst>
          </p:cNvPr>
          <p:cNvSpPr txBox="1"/>
          <p:nvPr/>
        </p:nvSpPr>
        <p:spPr>
          <a:xfrm>
            <a:off x="14547591" y="3945446"/>
            <a:ext cx="9152130" cy="38727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nSpc>
                <a:spcPct val="114000"/>
              </a:lnSpc>
            </a:pPr>
            <a:r>
              <a:rPr lang="en-US" dirty="0"/>
              <a:t>The distribution plot shows that scoring remains fairly consistent month-to-month, with a few high-scoring outliers, especially late in the season (around December).</a:t>
            </a:r>
            <a:br>
              <a:rPr lang="en-US" dirty="0"/>
            </a:br>
            <a:r>
              <a:rPr lang="en-US" dirty="0"/>
              <a:t>This consistency reflects balanced league-wide scoring trends.</a:t>
            </a:r>
            <a:endParaRPr dirty="0"/>
          </a:p>
        </p:txBody>
      </p:sp>
      <p:sp>
        <p:nvSpPr>
          <p:cNvPr id="216" name="Analysis">
            <a:extLst>
              <a:ext uri="{FF2B5EF4-FFF2-40B4-BE49-F238E27FC236}">
                <a16:creationId xmlns:a16="http://schemas.microsoft.com/office/drawing/2014/main" id="{82CC322D-2753-EB6E-C837-CEABAF22247B}"/>
              </a:ext>
            </a:extLst>
          </p:cNvPr>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a:p>
        </p:txBody>
      </p:sp>
      <p:pic>
        <p:nvPicPr>
          <p:cNvPr id="3" name="Picture 2">
            <a:extLst>
              <a:ext uri="{FF2B5EF4-FFF2-40B4-BE49-F238E27FC236}">
                <a16:creationId xmlns:a16="http://schemas.microsoft.com/office/drawing/2014/main" id="{6B49ECAE-F524-BA58-D644-5DC3327F67E7}"/>
              </a:ext>
            </a:extLst>
          </p:cNvPr>
          <p:cNvPicPr>
            <a:picLocks noChangeAspect="1"/>
          </p:cNvPicPr>
          <p:nvPr/>
        </p:nvPicPr>
        <p:blipFill>
          <a:blip r:embed="rId2"/>
          <a:stretch>
            <a:fillRect/>
          </a:stretch>
        </p:blipFill>
        <p:spPr>
          <a:xfrm>
            <a:off x="684279" y="2840030"/>
            <a:ext cx="13409768" cy="8035939"/>
          </a:xfrm>
          <a:prstGeom prst="rect">
            <a:avLst/>
          </a:prstGeom>
        </p:spPr>
      </p:pic>
    </p:spTree>
    <p:extLst>
      <p:ext uri="{BB962C8B-B14F-4D97-AF65-F5344CB8AC3E}">
        <p14:creationId xmlns:p14="http://schemas.microsoft.com/office/powerpoint/2010/main" val="205290713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8956F-0F3B-5510-A77C-CB3C8E0DCA69}"/>
            </a:ext>
          </a:extLst>
        </p:cNvPr>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a:extLst>
              <a:ext uri="{FF2B5EF4-FFF2-40B4-BE49-F238E27FC236}">
                <a16:creationId xmlns:a16="http://schemas.microsoft.com/office/drawing/2014/main" id="{6CD0AB59-130F-84C8-915E-524179967971}"/>
              </a:ext>
            </a:extLst>
          </p:cNvPr>
          <p:cNvSpPr txBox="1"/>
          <p:nvPr/>
        </p:nvSpPr>
        <p:spPr>
          <a:xfrm>
            <a:off x="14547591" y="2998072"/>
            <a:ext cx="9152130" cy="57674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14000"/>
              </a:lnSpc>
            </a:pPr>
            <a:r>
              <a:rPr lang="en-US" dirty="0"/>
              <a:t>This chart shows the distribution of point differences between home and away teams. Most values cluster around zero, but the slight right shift indicates that home teams generally score more points. This suggests a measurable home-court advantage, where teams tend to perform better when playing in familiar environments and with crowd support.</a:t>
            </a:r>
            <a:endParaRPr dirty="0"/>
          </a:p>
        </p:txBody>
      </p:sp>
      <p:sp>
        <p:nvSpPr>
          <p:cNvPr id="216" name="Analysis">
            <a:extLst>
              <a:ext uri="{FF2B5EF4-FFF2-40B4-BE49-F238E27FC236}">
                <a16:creationId xmlns:a16="http://schemas.microsoft.com/office/drawing/2014/main" id="{4E7769FB-2F15-AB6E-0634-5CEE47D1D254}"/>
              </a:ext>
            </a:extLst>
          </p:cNvPr>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a:p>
        </p:txBody>
      </p:sp>
      <p:pic>
        <p:nvPicPr>
          <p:cNvPr id="2" name="Picture 1">
            <a:extLst>
              <a:ext uri="{FF2B5EF4-FFF2-40B4-BE49-F238E27FC236}">
                <a16:creationId xmlns:a16="http://schemas.microsoft.com/office/drawing/2014/main" id="{32618864-EDD5-8889-B192-35BAE23BDC58}"/>
              </a:ext>
            </a:extLst>
          </p:cNvPr>
          <p:cNvPicPr>
            <a:picLocks noChangeAspect="1"/>
          </p:cNvPicPr>
          <p:nvPr/>
        </p:nvPicPr>
        <p:blipFill>
          <a:blip r:embed="rId2"/>
          <a:stretch>
            <a:fillRect/>
          </a:stretch>
        </p:blipFill>
        <p:spPr>
          <a:xfrm>
            <a:off x="2147137" y="2471576"/>
            <a:ext cx="11509934" cy="7614534"/>
          </a:xfrm>
          <a:prstGeom prst="rect">
            <a:avLst/>
          </a:prstGeom>
        </p:spPr>
      </p:pic>
    </p:spTree>
    <p:extLst>
      <p:ext uri="{BB962C8B-B14F-4D97-AF65-F5344CB8AC3E}">
        <p14:creationId xmlns:p14="http://schemas.microsoft.com/office/powerpoint/2010/main" val="339847589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B0A42-C6C9-4648-46EE-469F7CBD13EE}"/>
            </a:ext>
          </a:extLst>
        </p:cNvPr>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a:extLst>
              <a:ext uri="{FF2B5EF4-FFF2-40B4-BE49-F238E27FC236}">
                <a16:creationId xmlns:a16="http://schemas.microsoft.com/office/drawing/2014/main" id="{DDFCE8E0-BFD7-869A-FFC3-B25C79E8F0FD}"/>
              </a:ext>
            </a:extLst>
          </p:cNvPr>
          <p:cNvSpPr txBox="1"/>
          <p:nvPr/>
        </p:nvSpPr>
        <p:spPr>
          <a:xfrm>
            <a:off x="14547591" y="2998072"/>
            <a:ext cx="9152130" cy="5767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nSpc>
                <a:spcPct val="114000"/>
              </a:lnSpc>
            </a:pPr>
            <a:r>
              <a:rPr lang="en-US" dirty="0"/>
              <a:t>This chart shows how the average total points per season have evolved over time. The data reveals a steady increase in scoring since around 2012, indicating that NBA games have become faster-paced and more offense-driven. Factors such as improved shooting efficiency and emphasis on three-point plays have contributed to this upward trend.</a:t>
            </a:r>
            <a:endParaRPr dirty="0"/>
          </a:p>
        </p:txBody>
      </p:sp>
      <p:sp>
        <p:nvSpPr>
          <p:cNvPr id="216" name="Analysis">
            <a:extLst>
              <a:ext uri="{FF2B5EF4-FFF2-40B4-BE49-F238E27FC236}">
                <a16:creationId xmlns:a16="http://schemas.microsoft.com/office/drawing/2014/main" id="{C5AA9A70-8829-09B2-2737-80A1CDAD38C6}"/>
              </a:ext>
            </a:extLst>
          </p:cNvPr>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a:p>
        </p:txBody>
      </p:sp>
      <p:pic>
        <p:nvPicPr>
          <p:cNvPr id="3" name="Picture 2">
            <a:extLst>
              <a:ext uri="{FF2B5EF4-FFF2-40B4-BE49-F238E27FC236}">
                <a16:creationId xmlns:a16="http://schemas.microsoft.com/office/drawing/2014/main" id="{9DC559A6-037F-D097-9DD9-FFBE086A036E}"/>
              </a:ext>
            </a:extLst>
          </p:cNvPr>
          <p:cNvPicPr>
            <a:picLocks noChangeAspect="1"/>
          </p:cNvPicPr>
          <p:nvPr/>
        </p:nvPicPr>
        <p:blipFill>
          <a:blip r:embed="rId2"/>
          <a:stretch>
            <a:fillRect/>
          </a:stretch>
        </p:blipFill>
        <p:spPr>
          <a:xfrm>
            <a:off x="1941067" y="2486112"/>
            <a:ext cx="11098901" cy="6791395"/>
          </a:xfrm>
          <a:prstGeom prst="rect">
            <a:avLst/>
          </a:prstGeom>
        </p:spPr>
      </p:pic>
    </p:spTree>
    <p:extLst>
      <p:ext uri="{BB962C8B-B14F-4D97-AF65-F5344CB8AC3E}">
        <p14:creationId xmlns:p14="http://schemas.microsoft.com/office/powerpoint/2010/main" val="53887047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0B5D7-41D5-8AFE-9485-6408C7784F45}"/>
            </a:ext>
          </a:extLst>
        </p:cNvPr>
        <p:cNvGrpSpPr/>
        <p:nvPr/>
      </p:nvGrpSpPr>
      <p:grpSpPr>
        <a:xfrm>
          <a:off x="0" y="0"/>
          <a:ext cx="0" cy="0"/>
          <a:chOff x="0" y="0"/>
          <a:chExt cx="0" cy="0"/>
        </a:xfrm>
      </p:grpSpPr>
      <p:sp>
        <p:nvSpPr>
          <p:cNvPr id="215" name="Use the data and look at it through the lens of a professional data analyst. The skills you have acquired will guide you to build your story from start to finish. Before you can do that, you will need to analyze the spreadsheet and each worksheet.">
            <a:extLst>
              <a:ext uri="{FF2B5EF4-FFF2-40B4-BE49-F238E27FC236}">
                <a16:creationId xmlns:a16="http://schemas.microsoft.com/office/drawing/2014/main" id="{2EE657BD-1FD6-6CBE-B775-DC96B50FDDB5}"/>
              </a:ext>
            </a:extLst>
          </p:cNvPr>
          <p:cNvSpPr txBox="1"/>
          <p:nvPr/>
        </p:nvSpPr>
        <p:spPr>
          <a:xfrm>
            <a:off x="14547591" y="3629655"/>
            <a:ext cx="9152130" cy="45043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nSpc>
                <a:spcPct val="114000"/>
              </a:lnSpc>
            </a:pPr>
            <a:r>
              <a:rPr lang="en-US" dirty="0"/>
              <a:t>This comparison shows that home teams consistently score slightly higher than away teams. The difference, while not extreme, supports the idea that playing at home gives teams a psychological and environmental advantage, such as crowd support and familiarity with the court.</a:t>
            </a:r>
          </a:p>
        </p:txBody>
      </p:sp>
      <p:sp>
        <p:nvSpPr>
          <p:cNvPr id="216" name="Analysis">
            <a:extLst>
              <a:ext uri="{FF2B5EF4-FFF2-40B4-BE49-F238E27FC236}">
                <a16:creationId xmlns:a16="http://schemas.microsoft.com/office/drawing/2014/main" id="{669C97E8-9097-C241-4CD2-933FC24F498F}"/>
              </a:ext>
            </a:extLst>
          </p:cNvPr>
          <p:cNvSpPr txBox="1">
            <a:spLocks noGrp="1"/>
          </p:cNvSpPr>
          <p:nvPr>
            <p:ph type="title"/>
          </p:nvPr>
        </p:nvSpPr>
        <p:spPr>
          <a:xfrm>
            <a:off x="14642824" y="1873418"/>
            <a:ext cx="8105495" cy="1041503"/>
          </a:xfrm>
          <a:prstGeom prst="rect">
            <a:avLst/>
          </a:prstGeom>
        </p:spPr>
        <p:txBody>
          <a:bodyPr lIns="88900" tIns="88900" rIns="88900" bIns="88900"/>
          <a:lstStyle/>
          <a:p>
            <a:pPr defTabSz="292100">
              <a:defRPr sz="4300" spc="-43"/>
            </a:pPr>
            <a:r>
              <a:rPr dirty="0"/>
              <a:t>Analysis</a:t>
            </a:r>
          </a:p>
          <a:p>
            <a:pPr algn="l" defTabSz="228600">
              <a:lnSpc>
                <a:spcPct val="100000"/>
              </a:lnSpc>
              <a:spcBef>
                <a:spcPts val="600"/>
              </a:spcBef>
              <a:defRPr sz="700" spc="0">
                <a:solidFill>
                  <a:srgbClr val="000000"/>
                </a:solidFill>
                <a:latin typeface="Helvetica Neue"/>
                <a:ea typeface="Helvetica Neue"/>
                <a:cs typeface="Helvetica Neue"/>
                <a:sym typeface="Helvetica Neue"/>
              </a:defRPr>
            </a:pPr>
            <a:endParaRPr dirty="0"/>
          </a:p>
        </p:txBody>
      </p:sp>
      <p:pic>
        <p:nvPicPr>
          <p:cNvPr id="2" name="Picture 1">
            <a:extLst>
              <a:ext uri="{FF2B5EF4-FFF2-40B4-BE49-F238E27FC236}">
                <a16:creationId xmlns:a16="http://schemas.microsoft.com/office/drawing/2014/main" id="{B4F19D38-97CD-1BFC-27BB-EEAA3DBCBF06}"/>
              </a:ext>
            </a:extLst>
          </p:cNvPr>
          <p:cNvPicPr>
            <a:picLocks noChangeAspect="1"/>
          </p:cNvPicPr>
          <p:nvPr/>
        </p:nvPicPr>
        <p:blipFill>
          <a:blip r:embed="rId3"/>
          <a:stretch>
            <a:fillRect/>
          </a:stretch>
        </p:blipFill>
        <p:spPr>
          <a:xfrm>
            <a:off x="2819400" y="2394169"/>
            <a:ext cx="10426002" cy="7276304"/>
          </a:xfrm>
          <a:prstGeom prst="rect">
            <a:avLst/>
          </a:prstGeom>
        </p:spPr>
      </p:pic>
    </p:spTree>
    <p:extLst>
      <p:ext uri="{BB962C8B-B14F-4D97-AF65-F5344CB8AC3E}">
        <p14:creationId xmlns:p14="http://schemas.microsoft.com/office/powerpoint/2010/main" val="217586072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Findings/Conclusion"/>
          <p:cNvSpPr txBox="1">
            <a:spLocks noGrp="1"/>
          </p:cNvSpPr>
          <p:nvPr>
            <p:ph type="title"/>
          </p:nvPr>
        </p:nvSpPr>
        <p:spPr>
          <a:xfrm>
            <a:off x="1727200" y="1739900"/>
            <a:ext cx="20929600" cy="1962762"/>
          </a:xfrm>
          <a:prstGeom prst="rect">
            <a:avLst/>
          </a:prstGeom>
        </p:spPr>
        <p:txBody>
          <a:bodyPr/>
          <a:lstStyle/>
          <a:p>
            <a:r>
              <a:rPr dirty="0"/>
              <a:t>Findings/Conclusion</a:t>
            </a:r>
          </a:p>
        </p:txBody>
      </p:sp>
      <p:sp>
        <p:nvSpPr>
          <p:cNvPr id="4" name="TextBox 3">
            <a:extLst>
              <a:ext uri="{FF2B5EF4-FFF2-40B4-BE49-F238E27FC236}">
                <a16:creationId xmlns:a16="http://schemas.microsoft.com/office/drawing/2014/main" id="{830F221D-64AC-5931-9979-A55A85901EF7}"/>
              </a:ext>
            </a:extLst>
          </p:cNvPr>
          <p:cNvSpPr txBox="1"/>
          <p:nvPr/>
        </p:nvSpPr>
        <p:spPr>
          <a:xfrm>
            <a:off x="1727201" y="3660041"/>
            <a:ext cx="20929599" cy="77194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nSpc>
                <a:spcPct val="114000"/>
              </a:lnSpc>
              <a:buFont typeface="Arial" panose="020B0604020202020204" pitchFamily="34" charset="0"/>
              <a:buChar char="•"/>
            </a:pPr>
            <a:r>
              <a:rPr lang="en-US" sz="3200" b="1" dirty="0"/>
              <a:t>Home teams consistently outperform away teams.</a:t>
            </a:r>
            <a:br>
              <a:rPr lang="en-US" sz="3200" dirty="0"/>
            </a:br>
            <a:r>
              <a:rPr lang="en-US" sz="3200" dirty="0"/>
              <a:t>The average point difference favors home teams, confirming a measurable home-court advantage.</a:t>
            </a:r>
          </a:p>
          <a:p>
            <a:pPr marL="571500" indent="-571500">
              <a:lnSpc>
                <a:spcPct val="114000"/>
              </a:lnSpc>
              <a:buFont typeface="Arial" panose="020B0604020202020204" pitchFamily="34" charset="0"/>
              <a:buChar char="•"/>
            </a:pPr>
            <a:r>
              <a:rPr lang="en-US" sz="3200" b="1" dirty="0"/>
              <a:t>Scoring trends have steadily increased over the years.</a:t>
            </a:r>
            <a:br>
              <a:rPr lang="en-US" sz="3200" dirty="0"/>
            </a:br>
            <a:r>
              <a:rPr lang="en-US" sz="3200" dirty="0"/>
              <a:t>The average total points per season have risen significantly since 2012, showing that NBA games have become more offense-oriented and faster-paced.</a:t>
            </a:r>
          </a:p>
          <a:p>
            <a:pPr marL="571500" indent="-571500">
              <a:lnSpc>
                <a:spcPct val="114000"/>
              </a:lnSpc>
              <a:buFont typeface="Arial" panose="020B0604020202020204" pitchFamily="34" charset="0"/>
              <a:buChar char="•"/>
            </a:pPr>
            <a:r>
              <a:rPr lang="en-US" sz="3200" b="1" dirty="0"/>
              <a:t>Team performance varies slightly across months.</a:t>
            </a:r>
            <a:br>
              <a:rPr lang="en-US" sz="3200" dirty="0"/>
            </a:br>
            <a:r>
              <a:rPr lang="en-US" sz="3200" dirty="0"/>
              <a:t>The monthly distribution indicates scoring consistency throughout the year, though some months show higher variability due to schedule density or player fatigue.</a:t>
            </a:r>
          </a:p>
          <a:p>
            <a:pPr>
              <a:lnSpc>
                <a:spcPct val="114000"/>
              </a:lnSpc>
            </a:pPr>
            <a:r>
              <a:rPr lang="en-US" sz="3200" dirty="0"/>
              <a:t>Overall, the data supports that home-court advantage impacts game outcomes and that modern NBA play emphasizes higher scoring. These insights can help analysts and teams understand evolving gameplay dynamics over time.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ommendations"/>
          <p:cNvSpPr txBox="1">
            <a:spLocks noGrp="1"/>
          </p:cNvSpPr>
          <p:nvPr>
            <p:ph type="title"/>
          </p:nvPr>
        </p:nvSpPr>
        <p:spPr>
          <a:prstGeom prst="rect">
            <a:avLst/>
          </a:prstGeom>
        </p:spPr>
        <p:txBody>
          <a:bodyPr/>
          <a:lstStyle/>
          <a:p>
            <a:r>
              <a:rPr lang="en-US" dirty="0"/>
              <a:t>Recommendations</a:t>
            </a:r>
          </a:p>
        </p:txBody>
      </p:sp>
      <p:sp>
        <p:nvSpPr>
          <p:cNvPr id="5" name="TextBox 4">
            <a:extLst>
              <a:ext uri="{FF2B5EF4-FFF2-40B4-BE49-F238E27FC236}">
                <a16:creationId xmlns:a16="http://schemas.microsoft.com/office/drawing/2014/main" id="{958753C5-9CCB-0709-EC5B-EEC7772F4047}"/>
              </a:ext>
            </a:extLst>
          </p:cNvPr>
          <p:cNvSpPr txBox="1"/>
          <p:nvPr/>
        </p:nvSpPr>
        <p:spPr>
          <a:xfrm>
            <a:off x="1727201" y="2929264"/>
            <a:ext cx="20929599" cy="93012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nSpc>
                <a:spcPct val="114000"/>
              </a:lnSpc>
              <a:buFont typeface="Arial" panose="020B0604020202020204" pitchFamily="34" charset="0"/>
              <a:buChar char="•"/>
            </a:pPr>
            <a:r>
              <a:rPr lang="en-US" sz="3200" b="1" dirty="0"/>
              <a:t>Leverage Home-Court Advantage Strategically</a:t>
            </a:r>
          </a:p>
          <a:p>
            <a:pPr marL="635000" lvl="6" indent="0">
              <a:lnSpc>
                <a:spcPct val="114000"/>
              </a:lnSpc>
            </a:pPr>
            <a:r>
              <a:rPr lang="en-US" sz="3200" dirty="0"/>
              <a:t>Teams should continue emphasizing home games by optimizing rest schedules, crowd engagement, and defensive setups to maximize their performance boost.</a:t>
            </a:r>
          </a:p>
          <a:p>
            <a:pPr marL="571500" indent="-571500">
              <a:lnSpc>
                <a:spcPct val="114000"/>
              </a:lnSpc>
              <a:buFont typeface="Arial" panose="020B0604020202020204" pitchFamily="34" charset="0"/>
              <a:buChar char="•"/>
            </a:pPr>
            <a:r>
              <a:rPr lang="en-US" sz="3200" b="1" dirty="0"/>
              <a:t>Adapt Coaching Strategies to Modern Scoring Trends</a:t>
            </a:r>
          </a:p>
          <a:p>
            <a:pPr marL="587375">
              <a:lnSpc>
                <a:spcPct val="114000"/>
              </a:lnSpc>
            </a:pPr>
            <a:r>
              <a:rPr lang="en-US" sz="3200" dirty="0"/>
              <a:t>Since scoring has increased over the years, teams should prioritize offensive efficiency — faster ball movement, three-point shooting, and transition plays.</a:t>
            </a:r>
          </a:p>
          <a:p>
            <a:pPr marL="571500" indent="-571500">
              <a:lnSpc>
                <a:spcPct val="114000"/>
              </a:lnSpc>
              <a:buFont typeface="Arial" panose="020B0604020202020204" pitchFamily="34" charset="0"/>
              <a:buChar char="•"/>
            </a:pPr>
            <a:r>
              <a:rPr lang="en-US" sz="3200" b="1" dirty="0"/>
              <a:t>Monitor Player Fatigue and Monthly Variations</a:t>
            </a:r>
          </a:p>
          <a:p>
            <a:pPr marL="635000">
              <a:lnSpc>
                <a:spcPct val="114000"/>
              </a:lnSpc>
            </a:pPr>
            <a:r>
              <a:rPr lang="en-US" sz="3200" dirty="0"/>
              <a:t>Small monthly fluctuations suggest that fatigue or schedule intensity may impact consistency; implementing targeted recovery and rotation plans can help maintain performance.</a:t>
            </a:r>
          </a:p>
          <a:p>
            <a:pPr marL="571500" indent="-571500">
              <a:lnSpc>
                <a:spcPct val="114000"/>
              </a:lnSpc>
              <a:buFont typeface="Arial" panose="020B0604020202020204" pitchFamily="34" charset="0"/>
              <a:buChar char="•"/>
            </a:pPr>
            <a:r>
              <a:rPr lang="en-US" sz="3200" b="1" dirty="0"/>
              <a:t>Use Data Analytics for Continuous Improvement</a:t>
            </a:r>
          </a:p>
          <a:p>
            <a:pPr marL="635000">
              <a:lnSpc>
                <a:spcPct val="114000"/>
              </a:lnSpc>
            </a:pPr>
            <a:r>
              <a:rPr lang="en-US" sz="3200" dirty="0"/>
              <a:t>Encourage data-driven decision-making to identify team-specific strengths, adjust tactics, and predict performance outcomes more accurately.</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Q&amp;A"/>
          <p:cNvSpPr txBox="1">
            <a:spLocks noGrp="1"/>
          </p:cNvSpPr>
          <p:nvPr>
            <p:ph type="title"/>
          </p:nvPr>
        </p:nvSpPr>
        <p:spPr>
          <a:xfrm>
            <a:off x="1727200" y="5245322"/>
            <a:ext cx="20929600" cy="3225356"/>
          </a:xfrm>
          <a:prstGeom prst="rect">
            <a:avLst/>
          </a:prstGeom>
        </p:spPr>
        <p:txBody>
          <a:bodyPr/>
          <a:lstStyle/>
          <a:p>
            <a:r>
              <a:rPr dirty="0"/>
              <a:t>Q&amp;A</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hank You!…"/>
          <p:cNvSpPr txBox="1">
            <a:spLocks noGrp="1"/>
          </p:cNvSpPr>
          <p:nvPr>
            <p:ph type="title"/>
          </p:nvPr>
        </p:nvSpPr>
        <p:spPr>
          <a:xfrm>
            <a:off x="393034" y="3458146"/>
            <a:ext cx="23597932" cy="9177684"/>
          </a:xfrm>
          <a:prstGeom prst="rect">
            <a:avLst/>
          </a:prstGeom>
        </p:spPr>
        <p:txBody>
          <a:bodyPr/>
          <a:lstStyle/>
          <a:p>
            <a:r>
              <a:rPr dirty="0"/>
              <a:t>Thank You!</a:t>
            </a:r>
          </a:p>
          <a:p>
            <a:endParaRPr dirty="0"/>
          </a:p>
          <a:p>
            <a:endParaRPr dirty="0"/>
          </a:p>
          <a:p>
            <a:pPr>
              <a:defRPr sz="6300" spc="-63"/>
            </a:pPr>
            <a:r>
              <a:rPr lang="en-US" u="sng" dirty="0">
                <a:hlinkClick r:id="rId2"/>
              </a:rPr>
              <a:t>tengisbaina@yahoo.com</a:t>
            </a:r>
            <a:endParaRPr u="sng" dirty="0">
              <a:hlinkClick r:id="rId2"/>
            </a:endParaRPr>
          </a:p>
        </p:txBody>
      </p:sp>
    </p:spTree>
  </p:cSld>
  <p:clrMapOvr>
    <a:masterClrMapping/>
  </p:clrMapOvr>
  <p:transition spd="med"/>
</p:sld>
</file>

<file path=ppt/theme/theme1.xml><?xml version="1.0" encoding="utf-8"?>
<a:theme xmlns:a="http://schemas.openxmlformats.org/drawingml/2006/main" name="26_FeatureStory">
  <a:themeElements>
    <a:clrScheme name="26_FeatureStory">
      <a:dk1>
        <a:srgbClr val="4A4A4A"/>
      </a:dk1>
      <a:lt1>
        <a:srgbClr val="F0EBE0"/>
      </a:lt1>
      <a:dk2>
        <a:srgbClr val="4A4A4B"/>
      </a:dk2>
      <a:lt2>
        <a:srgbClr val="C2C3C6"/>
      </a:lt2>
      <a:accent1>
        <a:srgbClr val="53BBE0"/>
      </a:accent1>
      <a:accent2>
        <a:srgbClr val="6DCFB9"/>
      </a:accent2>
      <a:accent3>
        <a:srgbClr val="90BF72"/>
      </a:accent3>
      <a:accent4>
        <a:srgbClr val="F2C449"/>
      </a:accent4>
      <a:accent5>
        <a:srgbClr val="FF4741"/>
      </a:accent5>
      <a:accent6>
        <a:srgbClr val="FF8700"/>
      </a:accent6>
      <a:hlink>
        <a:srgbClr val="0000FF"/>
      </a:hlink>
      <a:folHlink>
        <a:srgbClr val="FF00FF"/>
      </a:folHlink>
    </a:clrScheme>
    <a:fontScheme name="26_FeatureStory">
      <a:majorFont>
        <a:latin typeface="Publico Headline Black"/>
        <a:ea typeface="Publico Headline Black"/>
        <a:cs typeface="Publico Headline Black"/>
      </a:majorFont>
      <a:minorFont>
        <a:latin typeface="Publico Headline Black"/>
        <a:ea typeface="Publico Headline Black"/>
        <a:cs typeface="Publico Headline Black"/>
      </a:minorFont>
    </a:fontScheme>
    <a:fmtScheme name="26_FeatureSto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B4A4B"/>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2700" rtl="0" fontAlgn="auto" latinLnBrk="0" hangingPunct="0">
          <a:lnSpc>
            <a:spcPct val="100000"/>
          </a:lnSpc>
          <a:spcBef>
            <a:spcPts val="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000" b="0" i="0" u="none" strike="noStrike" cap="all" spc="0" normalizeH="0" baseline="0">
            <a:ln>
              <a:noFill/>
            </a:ln>
            <a:solidFill>
              <a:srgbClr val="FFFFFF"/>
            </a:solidFill>
            <a:effectLst/>
            <a:uFillTx/>
            <a:latin typeface="Publico Text Roman"/>
            <a:ea typeface="Publico Text Roman"/>
            <a:cs typeface="Publico Text Roman"/>
            <a:sym typeface="Publico Text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50800" cap="flat">
          <a:solidFill>
            <a:srgbClr val="227AA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6_FeatureStory">
  <a:themeElements>
    <a:clrScheme name="26_FeatureStory">
      <a:dk1>
        <a:srgbClr val="000000"/>
      </a:dk1>
      <a:lt1>
        <a:srgbClr val="FFFFFF"/>
      </a:lt1>
      <a:dk2>
        <a:srgbClr val="4A4A4B"/>
      </a:dk2>
      <a:lt2>
        <a:srgbClr val="C2C3C6"/>
      </a:lt2>
      <a:accent1>
        <a:srgbClr val="53BBE0"/>
      </a:accent1>
      <a:accent2>
        <a:srgbClr val="6DCFB9"/>
      </a:accent2>
      <a:accent3>
        <a:srgbClr val="90BF72"/>
      </a:accent3>
      <a:accent4>
        <a:srgbClr val="F2C449"/>
      </a:accent4>
      <a:accent5>
        <a:srgbClr val="FF4741"/>
      </a:accent5>
      <a:accent6>
        <a:srgbClr val="FF8700"/>
      </a:accent6>
      <a:hlink>
        <a:srgbClr val="0000FF"/>
      </a:hlink>
      <a:folHlink>
        <a:srgbClr val="FF00FF"/>
      </a:folHlink>
    </a:clrScheme>
    <a:fontScheme name="26_FeatureStory">
      <a:majorFont>
        <a:latin typeface="Publico Headline Black"/>
        <a:ea typeface="Publico Headline Black"/>
        <a:cs typeface="Publico Headline Black"/>
      </a:majorFont>
      <a:minorFont>
        <a:latin typeface="Publico Headline Black"/>
        <a:ea typeface="Publico Headline Black"/>
        <a:cs typeface="Publico Headline Black"/>
      </a:minorFont>
    </a:fontScheme>
    <a:fmtScheme name="26_FeatureStor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B4A4B"/>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2700" rtl="0" fontAlgn="auto" latinLnBrk="0" hangingPunct="0">
          <a:lnSpc>
            <a:spcPct val="100000"/>
          </a:lnSpc>
          <a:spcBef>
            <a:spcPts val="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000" b="0" i="0" u="none" strike="noStrike" cap="all" spc="0" normalizeH="0" baseline="0">
            <a:ln>
              <a:noFill/>
            </a:ln>
            <a:solidFill>
              <a:srgbClr val="FFFFFF"/>
            </a:solidFill>
            <a:effectLst/>
            <a:uFillTx/>
            <a:latin typeface="Publico Text Roman"/>
            <a:ea typeface="Publico Text Roman"/>
            <a:cs typeface="Publico Text Roman"/>
            <a:sym typeface="Publico Text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50800" cap="flat">
          <a:solidFill>
            <a:srgbClr val="227AA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2700" rtl="0" fontAlgn="auto" latinLnBrk="0" hangingPunct="0">
          <a:lnSpc>
            <a:spcPct val="80000"/>
          </a:lnSpc>
          <a:spcBef>
            <a:spcPts val="2400"/>
          </a:spcBef>
          <a:spcAft>
            <a:spcPts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kumimoji="0" sz="3600" b="0" i="0" u="none" strike="noStrike" cap="none" spc="0" normalizeH="0" baseline="0">
            <a:ln>
              <a:noFill/>
            </a:ln>
            <a:solidFill>
              <a:srgbClr val="4A4A4A"/>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56</TotalTime>
  <Words>1145</Words>
  <Application>Microsoft Macintosh PowerPoint</Application>
  <PresentationFormat>Custom</PresentationFormat>
  <Paragraphs>91</Paragraphs>
  <Slides>18</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Avenir Next Medium</vt:lpstr>
      <vt:lpstr>Helvetica Neue</vt:lpstr>
      <vt:lpstr>Publico Headline Black</vt:lpstr>
      <vt:lpstr>Publico Headline Roman</vt:lpstr>
      <vt:lpstr>Publico Text Roman</vt:lpstr>
      <vt:lpstr>Publico Text Semibold</vt:lpstr>
      <vt:lpstr>26_FeatureStory</vt:lpstr>
      <vt:lpstr>NBA Game Performance Analysis: Exploring Home Court Advantage and Scoring Trends</vt:lpstr>
      <vt:lpstr>Agenda</vt:lpstr>
      <vt:lpstr>Introduction</vt:lpstr>
      <vt:lpstr>Objective</vt:lpstr>
      <vt:lpstr>Methodology</vt:lpstr>
      <vt:lpstr>PowerPoint Presentation</vt:lpstr>
      <vt:lpstr>Statistical Validation</vt:lpstr>
      <vt:lpstr>Statistical Validation</vt:lpstr>
      <vt:lpstr>Analysis </vt:lpstr>
      <vt:lpstr>Analysis </vt:lpstr>
      <vt:lpstr>Analysis </vt:lpstr>
      <vt:lpstr>Analysis </vt:lpstr>
      <vt:lpstr>Analysis </vt:lpstr>
      <vt:lpstr>Analysis </vt:lpstr>
      <vt:lpstr>Findings/Conclusion</vt:lpstr>
      <vt:lpstr>Recommendations</vt:lpstr>
      <vt:lpstr>Q&amp;A</vt:lpstr>
      <vt:lpstr>Thank You!   tengisbaina@yahoo.com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Batuka</cp:lastModifiedBy>
  <cp:revision>2</cp:revision>
  <dcterms:modified xsi:type="dcterms:W3CDTF">2025-11-03T02:01:32Z</dcterms:modified>
</cp:coreProperties>
</file>